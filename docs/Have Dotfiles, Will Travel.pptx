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Space Grotesk" pitchFamily="34" charset="0"/>
      <p:regular r:id="rId24"/>
      <p:bold r:id="rId25"/>
    </p:embeddedFont>
    <p:embeddedFont>
      <p:font typeface="JetBrains Mono" panose="02000009000000000000" pitchFamily="49"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Duane. Lightning-ish talk: about 20 minutes, two short live demos. Everything I show is in a repo you can fork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Show of hands: who set up a new laptop, VM or dev container this month? Who did it more than once? The shell, git and editor setup is the same every time and nobody remembers all of it. Today: write it down once, in Git, and let a script put 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Dotfiles are just config files, named with a leading dot so ls hides them. Your setup lives in a handful of them. They’re plain text, so they diff and version cleanly, which leads straight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demo repo’s layout. Files are grouped by tool, not mirrored as dotfiles at the root, so the repo stays readable. The installer is the only clever part. Two of them: bash for Linux, mac and WSL, PowerShell for Windows. bin/ goes on PATH, so a new script works after a pull with no reinstall.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whole installer does four things. Link: files we fully own, like tmux.conf and editorconfig, become symlinks into the repo. Hook: the shell rc file gets one line that sources our init.sh. Include: git’s include.path pulls in our gitconfig. Install: missing tools, using whichever package manager the box has. Each one is a function of a few lines. Show install.sh in the editor if there’s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These four rules are the real takeaway. Link, don’t copy: a copy drifts, a symlink can’t. Include, don’t replace: the base image already wrote a .bashrc, and VS Code already copied your git name and email into .gitconfig. Overwrite them and you lose both. Safe to re-run: tag your lines so a second run rewrites them instead of appending a duplicate. Best effort: this runs during container creation, so a failed apt-get must not leave you with a half-built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Here’s rule two in practice. The bashrc gets one tagged line at the end. Re-running the installer deletes any line with that tag and writes it again, so it never duplicates and it fixes itself if you move the clone. Git has include.path built in, so our gitconfig layers on top of whatever is already there, including the identity VS Code copied in from your host. Our gitconfig deliberately has no [user]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Dotfiles repos tend to end up public, sometimes by accident. So secrets and machine-specific things go in .local files the repo never sees. The shared config loads them last, so they override it. The classic case: your work email lives in ~/.gitconfig.local on the work laptop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Section change. Dev containers are great for projects: same toolchain for everyone. But every one starts as a stranger’s machine. That split matters: the project config is shared, and your dotfiles are personal. Nobody has to agree on aliases.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whole integration. These go in your user settings, not in a project, so they follow you into every container and never into a teammate’s. Repository can be owner/repo shorthand for GitHub or a full URL to any Git host. Dev Containers forwards your host’s git credentials, so a private repo clones fine. If you leave installCommand out, it looks for the usual script names. If it finds none, it just symlinks the top-level dotfiles into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project’s steps happen first, then yours. The main surprise people hit: it runs on create, not on every start, so an existing container won’t pick up changes until you rebuild it. That’s why the demo repo has a dotfiles update command. When something goes wrong, the Dev Containers output channel has the clone and your script’s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Follow docs/demo-script.md, demo 1. Open demo/sample-project in its container with dotfiles.repository unset. Show that ll, gs and git lg fail and the prompt is plain. Paste the three settings, then Dev Containers: Rebuild Container. New terminal: the prompt shows [devcontainer], ll and gs work, git lg works, dotfiles status lists the links. Finish with git config --global --list --show-origin to show the user name survived next to the include. If the rebuild is slow, talk through the When it runs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Nothing about the repo is container-specific. WSL is Linux, so it’s the same two commands, and the prompt tag tells you which side you’re on. Native Windows gets a PowerShell twin with the same aliases. Without Developer Mode it falls back to copying, so re-run it after pulling. Codespaces has the same feature in your GitHub settings, but only for repos hosted on GitHub. The devcontainer CLI takes the same three options as flags, which is handy in CI or with other editors. Optional demo 3: run install.sh in WSL and show the [wsl]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optional) Follow docs/demo-script.md, demo 2. Add an alias in the dotfiles-demo container, commit and push. In the sample-project container, dotfiles update pulls and re-runs the installer, exec bash reloads, and weather works. Point out that a new container would get it for free. If short on time, skip this and just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Pick the two or three the audience will relate to. The CRLF one is the classic for anyone who clones on Windows and runs in a Linux container: the shebang line ends in a carriage return. A .gitattributes line fixes it for good. The executable bit is easy to lose committing from Windows. Install time adds to every container creation, so put heavy, project-wide tools in the image or a feature and keep the dotfiles personal and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Don’t try to build the perfect setup on day one. Four steps get you working. After that it grows the right way: every time you notice yourself redoing something on a new machine, it goes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Leave this slide up during questions so people can photograph the repo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Shape 0"/>
          <p:cNvSpPr/>
          <p:nvPr/>
        </p:nvSpPr>
        <p:spPr>
          <a:xfrm rot="240000">
            <a:off x="8718550" y="818422"/>
            <a:ext cx="2654300" cy="1644650"/>
          </a:xfrm>
          <a:prstGeom prst="roundRect">
            <a:avLst>
              <a:gd name="adj" fmla="val 8880"/>
            </a:avLst>
          </a:prstGeom>
          <a:noFill/>
          <a:ln w="12700">
            <a:solidFill>
              <a:srgbClr val="E8A33D"/>
            </a:solidFill>
            <a:prstDash val="dash"/>
          </a:ln>
        </p:spPr>
      </p:sp>
      <p:sp>
        <p:nvSpPr>
          <p:cNvPr id="3" name="Text 1"/>
          <p:cNvSpPr/>
          <p:nvPr/>
        </p:nvSpPr>
        <p:spPr>
          <a:xfrm rot="240000">
            <a:off x="8962387" y="1030949"/>
            <a:ext cx="2302256" cy="24130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FROM</a:t>
            </a:r>
            <a:endParaRPr lang="en-US" sz="1200" dirty="0"/>
          </a:p>
        </p:txBody>
      </p:sp>
      <p:sp>
        <p:nvSpPr>
          <p:cNvPr id="4" name="Text 2"/>
          <p:cNvSpPr/>
          <p:nvPr/>
        </p:nvSpPr>
        <p:spPr>
          <a:xfrm rot="240000">
            <a:off x="8939711" y="1320306"/>
            <a:ext cx="2302256" cy="31115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A"/>
                </a:solidFill>
                <a:latin typeface="JetBrains Mono" pitchFamily="49" charset="0"/>
                <a:ea typeface="JetBrains Mono" pitchFamily="49" charset="-122"/>
                <a:cs typeface="JetBrains Mono" pitchFamily="49" charset="-120"/>
              </a:rPr>
              <a:t>~/dotfiles</a:t>
            </a:r>
            <a:endParaRPr lang="en-US" sz="1600" dirty="0"/>
          </a:p>
        </p:txBody>
      </p:sp>
      <p:sp>
        <p:nvSpPr>
          <p:cNvPr id="5" name="Text 3"/>
          <p:cNvSpPr/>
          <p:nvPr/>
        </p:nvSpPr>
        <p:spPr>
          <a:xfrm rot="240000">
            <a:off x="8917035" y="1679513"/>
            <a:ext cx="2302256" cy="24130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A33D"/>
                </a:solidFill>
                <a:latin typeface="JetBrains Mono" pitchFamily="49" charset="0"/>
                <a:ea typeface="JetBrains Mono" pitchFamily="49" charset="-122"/>
                <a:cs typeface="JetBrains Mono" pitchFamily="49" charset="-120"/>
              </a:rPr>
              <a:t>TO</a:t>
            </a:r>
            <a:endParaRPr lang="en-US" sz="1200" dirty="0"/>
          </a:p>
        </p:txBody>
      </p:sp>
      <p:sp>
        <p:nvSpPr>
          <p:cNvPr id="6" name="Text 4"/>
          <p:cNvSpPr/>
          <p:nvPr/>
        </p:nvSpPr>
        <p:spPr>
          <a:xfrm rot="240000">
            <a:off x="8894359" y="1968870"/>
            <a:ext cx="2302256" cy="31115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A"/>
                </a:solidFill>
                <a:latin typeface="JetBrains Mono" pitchFamily="49" charset="0"/>
                <a:ea typeface="JetBrains Mono" pitchFamily="49" charset="-122"/>
                <a:cs typeface="JetBrains Mono" pitchFamily="49" charset="-120"/>
              </a:rPr>
              <a:t>anywhere</a:t>
            </a:r>
            <a:endParaRPr lang="en-US" sz="1600" dirty="0"/>
          </a:p>
        </p:txBody>
      </p:sp>
      <p:sp>
        <p:nvSpPr>
          <p:cNvPr id="7" name="Text 5"/>
          <p:cNvSpPr/>
          <p:nvPr/>
        </p:nvSpPr>
        <p:spPr>
          <a:xfrm>
            <a:off x="812800" y="81280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A33D"/>
                </a:solidFill>
                <a:latin typeface="JetBrains Mono" pitchFamily="49" charset="0"/>
                <a:ea typeface="JetBrains Mono" pitchFamily="49" charset="-122"/>
                <a:cs typeface="JetBrains Mono" pitchFamily="49" charset="-120"/>
              </a:rPr>
              <a:t>$ ./install.sh</a:t>
            </a:r>
            <a:endParaRPr lang="en-US" sz="1600" dirty="0"/>
          </a:p>
        </p:txBody>
      </p:sp>
      <p:sp>
        <p:nvSpPr>
          <p:cNvPr id="8" name="Text 6"/>
          <p:cNvSpPr/>
          <p:nvPr>
            <p:ph type="title"/>
          </p:nvPr>
        </p:nvSpPr>
        <p:spPr>
          <a:xfrm>
            <a:off x="812800" y="2115873"/>
            <a:ext cx="8502650" cy="2057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4F1EA"/>
                </a:solidFill>
                <a:latin typeface="Space Grotesk" pitchFamily="34" charset="0"/>
                <a:ea typeface="Space Grotesk" pitchFamily="34" charset="-122"/>
                <a:cs typeface="Space Grotesk" pitchFamily="34" charset="-120"/>
              </a:rPr>
              <a:t>Have Dotfiles, Will Travel</a:t>
            </a:r>
            <a:endParaRPr lang="en-US" sz="8000" dirty="0"/>
          </a:p>
        </p:txBody>
      </p:sp>
      <p:sp>
        <p:nvSpPr>
          <p:cNvPr id="9" name="Text 7"/>
          <p:cNvSpPr/>
          <p:nvPr/>
        </p:nvSpPr>
        <p:spPr>
          <a:xfrm>
            <a:off x="812800" y="4351073"/>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CDD3"/>
                </a:solidFill>
                <a:latin typeface="Space Grotesk" pitchFamily="34" charset="0"/>
                <a:ea typeface="Space Grotesk" pitchFamily="34" charset="-122"/>
                <a:cs typeface="Space Grotesk" pitchFamily="34" charset="-120"/>
              </a:rPr>
              <a:t>Portable developer environments</a:t>
            </a:r>
            <a:endParaRPr lang="en-US" sz="2200" dirty="0"/>
          </a:p>
        </p:txBody>
      </p:sp>
      <p:sp>
        <p:nvSpPr>
          <p:cNvPr id="10" name="Text 8"/>
          <p:cNvSpPr/>
          <p:nvPr/>
        </p:nvSpPr>
        <p:spPr>
          <a:xfrm>
            <a:off x="812800" y="576077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1EA"/>
                </a:solidFill>
                <a:latin typeface="Space Grotesk" pitchFamily="34" charset="0"/>
                <a:ea typeface="Space Grotesk" pitchFamily="34" charset="-122"/>
                <a:cs typeface="Space Grotesk" pitchFamily="34" charset="-120"/>
              </a:rPr>
              <a:t>Duane Newman</a:t>
            </a:r>
            <a:r>
              <a:rPr lang="en-US" sz="1600" dirty="0">
                <a:solidFill>
                  <a:srgbClr val="C9CDD3"/>
                </a:solidFill>
                <a:latin typeface="Space Grotesk" pitchFamily="34" charset="0"/>
                <a:ea typeface="Space Grotesk" pitchFamily="34" charset="-122"/>
                <a:cs typeface="Space Grotesk" pitchFamily="34" charset="-120"/>
              </a:rPr>
              <a:t> @duanenewman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THE PROBLEM</a:t>
            </a:r>
            <a:endParaRPr lang="en-US" sz="1200" dirty="0"/>
          </a:p>
        </p:txBody>
      </p:sp>
      <p:sp>
        <p:nvSpPr>
          <p:cNvPr id="3" name="Text 1"/>
          <p:cNvSpPr/>
          <p:nvPr>
            <p:ph type="title"/>
          </p:nvPr>
        </p:nvSpPr>
        <p:spPr>
          <a:xfrm>
            <a:off x="812800" y="1127720"/>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New machine. New container.</a:t>
            </a:r>
            <a:endParaRPr lang="en-US" sz="3600" dirty="0"/>
          </a:p>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Same 20 minutes of setup.</a:t>
            </a:r>
            <a:endParaRPr lang="en-US" sz="3600" dirty="0"/>
          </a:p>
        </p:txBody>
      </p:sp>
      <p:sp>
        <p:nvSpPr>
          <p:cNvPr id="4" name="Shape 2"/>
          <p:cNvSpPr/>
          <p:nvPr/>
        </p:nvSpPr>
        <p:spPr>
          <a:xfrm>
            <a:off x="819150" y="3196630"/>
            <a:ext cx="1978620" cy="1191154"/>
          </a:xfrm>
          <a:prstGeom prst="roundRect">
            <a:avLst>
              <a:gd name="adj" fmla="val 10129"/>
            </a:avLst>
          </a:prstGeom>
          <a:solidFill>
            <a:srgbClr val="FFFDF8"/>
          </a:solidFill>
          <a:ln w="12700">
            <a:solidFill>
              <a:srgbClr val="E2DCCF"/>
            </a:solidFill>
            <a:prstDash val="solid"/>
          </a:ln>
        </p:spPr>
      </p:sp>
      <p:sp>
        <p:nvSpPr>
          <p:cNvPr id="5" name="Text 3"/>
          <p:cNvSpPr/>
          <p:nvPr/>
        </p:nvSpPr>
        <p:spPr>
          <a:xfrm>
            <a:off x="1028700" y="3406180"/>
            <a:ext cx="16103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Aliases</a:t>
            </a:r>
            <a:endParaRPr lang="en-US" sz="1600" dirty="0"/>
          </a:p>
        </p:txBody>
      </p:sp>
      <p:sp>
        <p:nvSpPr>
          <p:cNvPr id="6" name="Text 4"/>
          <p:cNvSpPr/>
          <p:nvPr/>
        </p:nvSpPr>
        <p:spPr>
          <a:xfrm>
            <a:off x="1028700" y="3751593"/>
            <a:ext cx="16103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JetBrains Mono" pitchFamily="49" charset="0"/>
                <a:ea typeface="JetBrains Mono" pitchFamily="49" charset="-122"/>
                <a:cs typeface="JetBrains Mono" pitchFamily="49" charset="-120"/>
              </a:rPr>
              <a:t>ll: command not found</a:t>
            </a:r>
            <a:endParaRPr lang="en-US" sz="1200" dirty="0"/>
          </a:p>
        </p:txBody>
      </p:sp>
      <p:sp>
        <p:nvSpPr>
          <p:cNvPr id="7" name="Shape 5"/>
          <p:cNvSpPr/>
          <p:nvPr/>
        </p:nvSpPr>
        <p:spPr>
          <a:xfrm>
            <a:off x="2962870" y="3196630"/>
            <a:ext cx="1978687" cy="1191154"/>
          </a:xfrm>
          <a:prstGeom prst="roundRect">
            <a:avLst>
              <a:gd name="adj" fmla="val 10129"/>
            </a:avLst>
          </a:prstGeom>
          <a:solidFill>
            <a:srgbClr val="FFFDF8"/>
          </a:solidFill>
          <a:ln w="12700">
            <a:solidFill>
              <a:srgbClr val="E2DCCF"/>
            </a:solidFill>
            <a:prstDash val="solid"/>
          </a:ln>
        </p:spPr>
      </p:sp>
      <p:sp>
        <p:nvSpPr>
          <p:cNvPr id="8" name="Text 6"/>
          <p:cNvSpPr/>
          <p:nvPr/>
        </p:nvSpPr>
        <p:spPr>
          <a:xfrm>
            <a:off x="3172420" y="3406180"/>
            <a:ext cx="161038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Prompt</a:t>
            </a:r>
            <a:endParaRPr lang="en-US" sz="1600" dirty="0"/>
          </a:p>
        </p:txBody>
      </p:sp>
      <p:sp>
        <p:nvSpPr>
          <p:cNvPr id="9" name="Text 7"/>
          <p:cNvSpPr/>
          <p:nvPr/>
        </p:nvSpPr>
        <p:spPr>
          <a:xfrm>
            <a:off x="3172420" y="3751593"/>
            <a:ext cx="16103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JetBrains Mono" pitchFamily="49" charset="0"/>
                <a:ea typeface="JetBrains Mono" pitchFamily="49" charset="-122"/>
                <a:cs typeface="JetBrains Mono" pitchFamily="49" charset="-120"/>
              </a:rPr>
              <a:t>which box am I on?</a:t>
            </a:r>
            <a:endParaRPr lang="en-US" sz="1200" dirty="0"/>
          </a:p>
        </p:txBody>
      </p:sp>
      <p:sp>
        <p:nvSpPr>
          <p:cNvPr id="10" name="Shape 8"/>
          <p:cNvSpPr/>
          <p:nvPr/>
        </p:nvSpPr>
        <p:spPr>
          <a:xfrm>
            <a:off x="5106657" y="3196630"/>
            <a:ext cx="1978620" cy="1191154"/>
          </a:xfrm>
          <a:prstGeom prst="roundRect">
            <a:avLst>
              <a:gd name="adj" fmla="val 10129"/>
            </a:avLst>
          </a:prstGeom>
          <a:solidFill>
            <a:srgbClr val="FFFDF8"/>
          </a:solidFill>
          <a:ln w="12700">
            <a:solidFill>
              <a:srgbClr val="E2DCCF"/>
            </a:solidFill>
            <a:prstDash val="solid"/>
          </a:ln>
        </p:spPr>
      </p:sp>
      <p:sp>
        <p:nvSpPr>
          <p:cNvPr id="11" name="Text 9"/>
          <p:cNvSpPr/>
          <p:nvPr/>
        </p:nvSpPr>
        <p:spPr>
          <a:xfrm>
            <a:off x="5316207" y="3406180"/>
            <a:ext cx="16103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Git config</a:t>
            </a:r>
            <a:endParaRPr lang="en-US" sz="1600" dirty="0"/>
          </a:p>
        </p:txBody>
      </p:sp>
      <p:sp>
        <p:nvSpPr>
          <p:cNvPr id="12" name="Text 10"/>
          <p:cNvSpPr/>
          <p:nvPr/>
        </p:nvSpPr>
        <p:spPr>
          <a:xfrm>
            <a:off x="5316207" y="3751593"/>
            <a:ext cx="16103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JetBrains Mono" pitchFamily="49" charset="0"/>
                <a:ea typeface="JetBrains Mono" pitchFamily="49" charset="-122"/>
                <a:cs typeface="JetBrains Mono" pitchFamily="49" charset="-120"/>
              </a:rPr>
              <a:t>git lg: not a git command</a:t>
            </a:r>
            <a:endParaRPr lang="en-US" sz="1200" dirty="0"/>
          </a:p>
        </p:txBody>
      </p:sp>
      <p:sp>
        <p:nvSpPr>
          <p:cNvPr id="13" name="Shape 11"/>
          <p:cNvSpPr/>
          <p:nvPr/>
        </p:nvSpPr>
        <p:spPr>
          <a:xfrm>
            <a:off x="7250378" y="3196630"/>
            <a:ext cx="1978687" cy="1191154"/>
          </a:xfrm>
          <a:prstGeom prst="roundRect">
            <a:avLst>
              <a:gd name="adj" fmla="val 10129"/>
            </a:avLst>
          </a:prstGeom>
          <a:solidFill>
            <a:srgbClr val="FFFDF8"/>
          </a:solidFill>
          <a:ln w="12700">
            <a:solidFill>
              <a:srgbClr val="E2DCCF"/>
            </a:solidFill>
            <a:prstDash val="solid"/>
          </a:ln>
        </p:spPr>
      </p:sp>
      <p:sp>
        <p:nvSpPr>
          <p:cNvPr id="14" name="Text 12"/>
          <p:cNvSpPr/>
          <p:nvPr/>
        </p:nvSpPr>
        <p:spPr>
          <a:xfrm>
            <a:off x="7459928" y="3406180"/>
            <a:ext cx="161038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Editor</a:t>
            </a:r>
            <a:endParaRPr lang="en-US" sz="1600" dirty="0"/>
          </a:p>
        </p:txBody>
      </p:sp>
      <p:sp>
        <p:nvSpPr>
          <p:cNvPr id="15" name="Text 13"/>
          <p:cNvSpPr/>
          <p:nvPr/>
        </p:nvSpPr>
        <p:spPr>
          <a:xfrm>
            <a:off x="7459928" y="3751593"/>
            <a:ext cx="161038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JetBrains Mono" pitchFamily="49" charset="0"/>
                <a:ea typeface="JetBrains Mono" pitchFamily="49" charset="-122"/>
                <a:cs typeface="JetBrains Mono" pitchFamily="49" charset="-120"/>
              </a:rPr>
              <a:t>tabs? CRLF? again?</a:t>
            </a:r>
            <a:endParaRPr lang="en-US" sz="1200" dirty="0"/>
          </a:p>
        </p:txBody>
      </p:sp>
      <p:sp>
        <p:nvSpPr>
          <p:cNvPr id="16" name="Shape 14"/>
          <p:cNvSpPr/>
          <p:nvPr/>
        </p:nvSpPr>
        <p:spPr>
          <a:xfrm>
            <a:off x="9394164" y="3196630"/>
            <a:ext cx="1978687" cy="1191154"/>
          </a:xfrm>
          <a:prstGeom prst="roundRect">
            <a:avLst>
              <a:gd name="adj" fmla="val 10129"/>
            </a:avLst>
          </a:prstGeom>
          <a:solidFill>
            <a:srgbClr val="FFFDF8"/>
          </a:solidFill>
          <a:ln w="12700">
            <a:solidFill>
              <a:srgbClr val="E2DCCF"/>
            </a:solidFill>
            <a:prstDash val="solid"/>
          </a:ln>
        </p:spPr>
      </p:sp>
      <p:sp>
        <p:nvSpPr>
          <p:cNvPr id="17" name="Text 15"/>
          <p:cNvSpPr/>
          <p:nvPr/>
        </p:nvSpPr>
        <p:spPr>
          <a:xfrm>
            <a:off x="9603714" y="3406180"/>
            <a:ext cx="161038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Tools</a:t>
            </a:r>
            <a:endParaRPr lang="en-US" sz="1600" dirty="0"/>
          </a:p>
        </p:txBody>
      </p:sp>
      <p:sp>
        <p:nvSpPr>
          <p:cNvPr id="18" name="Text 16"/>
          <p:cNvSpPr/>
          <p:nvPr/>
        </p:nvSpPr>
        <p:spPr>
          <a:xfrm>
            <a:off x="9603714" y="3751593"/>
            <a:ext cx="16103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7"/>
                </a:solidFill>
                <a:latin typeface="JetBrains Mono" pitchFamily="49" charset="0"/>
                <a:ea typeface="JetBrains Mono" pitchFamily="49" charset="-122"/>
                <a:cs typeface="JetBrains Mono" pitchFamily="49" charset="-120"/>
              </a:rPr>
              <a:t>jq, tree, tmux…</a:t>
            </a:r>
            <a:endParaRPr lang="en-US" sz="1200" dirty="0"/>
          </a:p>
        </p:txBody>
      </p:sp>
      <p:sp>
        <p:nvSpPr>
          <p:cNvPr id="19" name="Text 17"/>
          <p:cNvSpPr/>
          <p:nvPr/>
        </p:nvSpPr>
        <p:spPr>
          <a:xfrm>
            <a:off x="812800" y="545088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4A4F57"/>
                </a:solidFill>
                <a:latin typeface="Space Grotesk" pitchFamily="34" charset="0"/>
                <a:ea typeface="Space Grotesk" pitchFamily="34" charset="-122"/>
                <a:cs typeface="Space Grotesk" pitchFamily="34" charset="-120"/>
              </a:rPr>
              <a:t>And then the one setting you forgot, until it bites you a week later.</a:t>
            </a:r>
            <a:endParaRPr lang="en-US" sz="2200" dirty="0"/>
          </a:p>
        </p:txBody>
      </p:sp>
      <p:sp>
        <p:nvSpPr>
          <p:cNvPr id="20" name="Text 1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WHAT ARE DOTFILES?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Plain-text config files in your home folder</a:t>
            </a:r>
            <a:endParaRPr lang="en-US" sz="3600" dirty="0"/>
          </a:p>
        </p:txBody>
      </p:sp>
      <p:sp>
        <p:nvSpPr>
          <p:cNvPr id="4" name="Text 2"/>
          <p:cNvSpPr/>
          <p:nvPr/>
        </p:nvSpPr>
        <p:spPr>
          <a:xfrm>
            <a:off x="812800" y="1986228"/>
            <a:ext cx="4826000" cy="2574925"/>
          </a:xfrm>
          <a:prstGeom prst="roundRect">
            <a:avLst>
              <a:gd name="adj" fmla="val 4932"/>
            </a:avLst>
          </a:prstGeom>
          <a:solidFill>
            <a:srgbClr val="14181F"/>
          </a:solidFill>
          <a:ln/>
        </p:spPr>
        <p:txBody>
          <a:bodyPr wrap="square" lIns="216803" tIns="216803" rIns="87263" bIns="191403" rtlCol="0" anchor="t">
            <a:normAutofit/>
          </a:bodyPr>
          <a:lstStyle/>
          <a:p>
            <a:pPr algn="l" indent="0" marL="0">
              <a:lnSpc>
                <a:spcPts val="2325"/>
              </a:lnSpc>
              <a:buNone/>
            </a:pPr>
            <a:r>
              <a:rPr lang="en-US" sz="1500" dirty="0">
                <a:solidFill>
                  <a:srgbClr val="E8A33D"/>
                </a:solidFill>
                <a:latin typeface="JetBrains Mono" pitchFamily="49" charset="0"/>
                <a:ea typeface="JetBrains Mono" pitchFamily="49" charset="-122"/>
                <a:cs typeface="JetBrains Mono" pitchFamily="49" charset="-120"/>
              </a:rPr>
              <a:t>$</a:t>
            </a:r>
            <a:r>
              <a:rPr lang="en-US" sz="1500" dirty="0">
                <a:solidFill>
                  <a:srgbClr val="F4F1EA"/>
                </a:solidFill>
                <a:latin typeface="JetBrains Mono" pitchFamily="49" charset="0"/>
                <a:ea typeface="JetBrains Mono" pitchFamily="49" charset="-122"/>
                <a:cs typeface="JetBrains Mono" pitchFamily="49" charset="-120"/>
              </a:rPr>
              <a:t> ls -a ~</a:t>
            </a:r>
            <a:endParaRPr lang="en-US" sz="1500" dirty="0"/>
          </a:p>
          <a:p>
            <a:pPr algn="l" indent="0" marL="0">
              <a:lnSpc>
                <a:spcPts val="2325"/>
              </a:lnSpc>
              <a:buNone/>
            </a:pPr>
            <a:r>
              <a:rPr lang="en-US" sz="1500" dirty="0">
                <a:solidFill>
                  <a:srgbClr val="F4F1EA"/>
                </a:solidFill>
                <a:latin typeface="JetBrains Mono" pitchFamily="49" charset="0"/>
                <a:ea typeface="JetBrains Mono" pitchFamily="49" charset="-122"/>
                <a:cs typeface="JetBrains Mono" pitchFamily="49" charset="-120"/>
              </a:rPr>
              <a:t>.bashrc        </a:t>
            </a:r>
            <a:r>
              <a:rPr lang="en-US" sz="1500" dirty="0">
                <a:solidFill>
                  <a:srgbClr val="8B929C"/>
                </a:solidFill>
                <a:latin typeface="JetBrains Mono" pitchFamily="49" charset="0"/>
                <a:ea typeface="JetBrains Mono" pitchFamily="49" charset="-122"/>
                <a:cs typeface="JetBrains Mono" pitchFamily="49" charset="-120"/>
              </a:rPr>
              <a:t># shell</a:t>
            </a:r>
            <a:endParaRPr lang="en-US" sz="1500" dirty="0"/>
          </a:p>
          <a:p>
            <a:pPr algn="l" indent="0" marL="0">
              <a:lnSpc>
                <a:spcPts val="2325"/>
              </a:lnSpc>
              <a:buNone/>
            </a:pPr>
            <a:r>
              <a:rPr lang="en-US" sz="1500" dirty="0">
                <a:solidFill>
                  <a:srgbClr val="F4F1EA"/>
                </a:solidFill>
                <a:latin typeface="JetBrains Mono" pitchFamily="49" charset="0"/>
                <a:ea typeface="JetBrains Mono" pitchFamily="49" charset="-122"/>
                <a:cs typeface="JetBrains Mono" pitchFamily="49" charset="-120"/>
              </a:rPr>
              <a:t>.zshrc</a:t>
            </a:r>
            <a:endParaRPr lang="en-US" sz="1500" dirty="0"/>
          </a:p>
          <a:p>
            <a:pPr algn="l" indent="0" marL="0">
              <a:lnSpc>
                <a:spcPts val="2325"/>
              </a:lnSpc>
              <a:buNone/>
            </a:pPr>
            <a:r>
              <a:rPr lang="en-US" sz="1500" dirty="0">
                <a:solidFill>
                  <a:srgbClr val="F4F1EA"/>
                </a:solidFill>
                <a:latin typeface="JetBrains Mono" pitchFamily="49" charset="0"/>
                <a:ea typeface="JetBrains Mono" pitchFamily="49" charset="-122"/>
                <a:cs typeface="JetBrains Mono" pitchFamily="49" charset="-120"/>
              </a:rPr>
              <a:t>.gitconfig     </a:t>
            </a:r>
            <a:r>
              <a:rPr lang="en-US" sz="1500" dirty="0">
                <a:solidFill>
                  <a:srgbClr val="8B929C"/>
                </a:solidFill>
                <a:latin typeface="JetBrains Mono" pitchFamily="49" charset="0"/>
                <a:ea typeface="JetBrains Mono" pitchFamily="49" charset="-122"/>
                <a:cs typeface="JetBrains Mono" pitchFamily="49" charset="-120"/>
              </a:rPr>
              <a:t># git</a:t>
            </a:r>
            <a:endParaRPr lang="en-US" sz="1500" dirty="0"/>
          </a:p>
          <a:p>
            <a:pPr algn="l" indent="0" marL="0">
              <a:lnSpc>
                <a:spcPts val="2325"/>
              </a:lnSpc>
              <a:buNone/>
            </a:pPr>
            <a:r>
              <a:rPr lang="en-US" sz="1500" dirty="0">
                <a:solidFill>
                  <a:srgbClr val="F4F1EA"/>
                </a:solidFill>
                <a:latin typeface="JetBrains Mono" pitchFamily="49" charset="0"/>
                <a:ea typeface="JetBrains Mono" pitchFamily="49" charset="-122"/>
                <a:cs typeface="JetBrains Mono" pitchFamily="49" charset="-120"/>
              </a:rPr>
              <a:t>.tmux.conf     </a:t>
            </a:r>
            <a:r>
              <a:rPr lang="en-US" sz="1500" dirty="0">
                <a:solidFill>
                  <a:srgbClr val="8B929C"/>
                </a:solidFill>
                <a:latin typeface="JetBrains Mono" pitchFamily="49" charset="0"/>
                <a:ea typeface="JetBrains Mono" pitchFamily="49" charset="-122"/>
                <a:cs typeface="JetBrains Mono" pitchFamily="49" charset="-120"/>
              </a:rPr>
              <a:t># terminal</a:t>
            </a:r>
            <a:endParaRPr lang="en-US" sz="1500" dirty="0"/>
          </a:p>
          <a:p>
            <a:pPr algn="l" indent="0" marL="0">
              <a:lnSpc>
                <a:spcPts val="2325"/>
              </a:lnSpc>
              <a:buNone/>
            </a:pPr>
            <a:r>
              <a:rPr lang="en-US" sz="1500" dirty="0">
                <a:solidFill>
                  <a:srgbClr val="F4F1EA"/>
                </a:solidFill>
                <a:latin typeface="JetBrains Mono" pitchFamily="49" charset="0"/>
                <a:ea typeface="JetBrains Mono" pitchFamily="49" charset="-122"/>
                <a:cs typeface="JetBrains Mono" pitchFamily="49" charset="-120"/>
              </a:rPr>
              <a:t>.editorconfig  </a:t>
            </a:r>
            <a:r>
              <a:rPr lang="en-US" sz="1500" dirty="0">
                <a:solidFill>
                  <a:srgbClr val="8B929C"/>
                </a:solidFill>
                <a:latin typeface="JetBrains Mono" pitchFamily="49" charset="0"/>
                <a:ea typeface="JetBrains Mono" pitchFamily="49" charset="-122"/>
                <a:cs typeface="JetBrains Mono" pitchFamily="49" charset="-120"/>
              </a:rPr>
              <a:t># editors</a:t>
            </a:r>
            <a:endParaRPr lang="en-US" sz="1500" dirty="0"/>
          </a:p>
          <a:p>
            <a:pPr algn="l" indent="0" marL="0">
              <a:lnSpc>
                <a:spcPts val="2325"/>
              </a:lnSpc>
              <a:buNone/>
            </a:pPr>
            <a:r>
              <a:rPr lang="en-US" sz="1500" dirty="0">
                <a:solidFill>
                  <a:srgbClr val="F4F1EA"/>
                </a:solidFill>
                <a:latin typeface="JetBrains Mono" pitchFamily="49" charset="0"/>
                <a:ea typeface="JetBrains Mono" pitchFamily="49" charset="-122"/>
                <a:cs typeface="JetBrains Mono" pitchFamily="49" charset="-120"/>
              </a:rPr>
              <a:t>.config/       </a:t>
            </a:r>
            <a:r>
              <a:rPr lang="en-US" sz="1500" dirty="0">
                <a:solidFill>
                  <a:srgbClr val="8B929C"/>
                </a:solidFill>
                <a:latin typeface="JetBrains Mono" pitchFamily="49" charset="0"/>
                <a:ea typeface="JetBrains Mono" pitchFamily="49" charset="-122"/>
                <a:cs typeface="JetBrains Mono" pitchFamily="49" charset="-120"/>
              </a:rPr>
              <a:t># everything newer</a:t>
            </a:r>
            <a:endParaRPr lang="en-US" sz="1500" dirty="0"/>
          </a:p>
        </p:txBody>
      </p:sp>
      <p:sp>
        <p:nvSpPr>
          <p:cNvPr id="5" name="Text 3"/>
          <p:cNvSpPr/>
          <p:nvPr/>
        </p:nvSpPr>
        <p:spPr>
          <a:xfrm>
            <a:off x="6045200" y="1986228"/>
            <a:ext cx="54940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The leading dot hides them</a:t>
            </a:r>
            <a:endParaRPr lang="en-US" sz="1600" dirty="0"/>
          </a:p>
        </p:txBody>
      </p:sp>
      <p:sp>
        <p:nvSpPr>
          <p:cNvPr id="6" name="Text 4"/>
          <p:cNvSpPr/>
          <p:nvPr/>
        </p:nvSpPr>
        <p:spPr>
          <a:xfrm>
            <a:off x="6045200" y="2280841"/>
            <a:ext cx="549402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That’s where the name comes from: </a:t>
            </a:r>
            <a:r>
              <a:rPr lang="en-US" sz="1400" b="1" dirty="0">
                <a:solidFill>
                  <a:srgbClr val="4A4F57"/>
                </a:solidFill>
                <a:latin typeface="Space Grotesk" pitchFamily="34" charset="0"/>
                <a:ea typeface="Space Grotesk" pitchFamily="34" charset="-122"/>
                <a:cs typeface="Space Grotesk" pitchFamily="34" charset="-120"/>
              </a:rPr>
              <a:t>ls</a:t>
            </a:r>
            <a:r>
              <a:rPr lang="en-US" sz="1400" dirty="0">
                <a:solidFill>
                  <a:srgbClr val="4A4F57"/>
                </a:solidFill>
                <a:latin typeface="Space Grotesk" pitchFamily="34" charset="0"/>
                <a:ea typeface="Space Grotesk" pitchFamily="34" charset="-122"/>
                <a:cs typeface="Space Grotesk" pitchFamily="34" charset="-120"/>
              </a:rPr>
              <a:t> skips them unless you ask.</a:t>
            </a:r>
            <a:endParaRPr lang="en-US" sz="1400" dirty="0"/>
          </a:p>
        </p:txBody>
      </p:sp>
      <p:sp>
        <p:nvSpPr>
          <p:cNvPr id="7" name="Text 5"/>
          <p:cNvSpPr/>
          <p:nvPr/>
        </p:nvSpPr>
        <p:spPr>
          <a:xfrm>
            <a:off x="6045200" y="3032655"/>
            <a:ext cx="54940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Plain text</a:t>
            </a:r>
            <a:endParaRPr lang="en-US" sz="1600" dirty="0"/>
          </a:p>
        </p:txBody>
      </p:sp>
      <p:sp>
        <p:nvSpPr>
          <p:cNvPr id="8" name="Text 6"/>
          <p:cNvSpPr/>
          <p:nvPr/>
        </p:nvSpPr>
        <p:spPr>
          <a:xfrm>
            <a:off x="6045200" y="3327268"/>
            <a:ext cx="549402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Easy to read, diff, copy and version.</a:t>
            </a:r>
            <a:endParaRPr lang="en-US" sz="1400" dirty="0"/>
          </a:p>
        </p:txBody>
      </p:sp>
      <p:sp>
        <p:nvSpPr>
          <p:cNvPr id="9" name="Text 7"/>
          <p:cNvSpPr/>
          <p:nvPr/>
        </p:nvSpPr>
        <p:spPr>
          <a:xfrm>
            <a:off x="6045200" y="3830176"/>
            <a:ext cx="54940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Every tool has one</a:t>
            </a:r>
            <a:endParaRPr lang="en-US" sz="1600" dirty="0"/>
          </a:p>
        </p:txBody>
      </p:sp>
      <p:sp>
        <p:nvSpPr>
          <p:cNvPr id="10" name="Text 8"/>
          <p:cNvSpPr/>
          <p:nvPr/>
        </p:nvSpPr>
        <p:spPr>
          <a:xfrm>
            <a:off x="6045200" y="4124789"/>
            <a:ext cx="549402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Shell, git, tmux, vim, starship, npm, ssh…</a:t>
            </a:r>
            <a:endParaRPr lang="en-US" sz="1400" dirty="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MANAGE THEM WITH GIT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A repo, plus one script to install it</a:t>
            </a:r>
            <a:endParaRPr lang="en-US" sz="3600" dirty="0"/>
          </a:p>
        </p:txBody>
      </p:sp>
      <p:sp>
        <p:nvSpPr>
          <p:cNvPr id="4" name="Text 2"/>
          <p:cNvSpPr/>
          <p:nvPr/>
        </p:nvSpPr>
        <p:spPr>
          <a:xfrm>
            <a:off x="812800" y="1935428"/>
            <a:ext cx="4826000" cy="3090400"/>
          </a:xfrm>
          <a:prstGeom prst="roundRect">
            <a:avLst>
              <a:gd name="adj" fmla="val 4110"/>
            </a:avLst>
          </a:prstGeom>
          <a:solidFill>
            <a:srgbClr val="14181F"/>
          </a:solidFill>
          <a:ln/>
        </p:spPr>
        <p:txBody>
          <a:bodyPr wrap="square" lIns="216803" tIns="191403" rIns="87263" bIns="166003" rtlCol="0" anchor="t">
            <a:normAutofit/>
          </a:bodyPr>
          <a:lstStyle/>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dotfiles/</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a:t>
            </a:r>
            <a:r>
              <a:rPr lang="en-US" sz="1300" dirty="0">
                <a:solidFill>
                  <a:srgbClr val="E8A33D"/>
                </a:solidFill>
                <a:latin typeface="JetBrains Mono" pitchFamily="49" charset="0"/>
                <a:ea typeface="JetBrains Mono" pitchFamily="49" charset="-122"/>
                <a:cs typeface="JetBrains Mono" pitchFamily="49" charset="-120"/>
              </a:rPr>
              <a:t>install.sh</a:t>
            </a:r>
            <a:r>
              <a:rPr lang="en-US" sz="1300" dirty="0">
                <a:solidFill>
                  <a:srgbClr val="F4F1EA"/>
                </a:solidFill>
                <a:latin typeface="JetBrains Mono" pitchFamily="49" charset="0"/>
                <a:ea typeface="JetBrains Mono" pitchFamily="49" charset="-122"/>
                <a:cs typeface="JetBrains Mono" pitchFamily="49" charset="-120"/>
              </a:rPr>
              <a:t>     </a:t>
            </a:r>
            <a:r>
              <a:rPr lang="en-US" sz="1300" dirty="0">
                <a:solidFill>
                  <a:srgbClr val="8B929C"/>
                </a:solidFill>
                <a:latin typeface="JetBrains Mono" pitchFamily="49" charset="0"/>
                <a:ea typeface="JetBrains Mono" pitchFamily="49" charset="-122"/>
                <a:cs typeface="JetBrains Mono" pitchFamily="49" charset="-120"/>
              </a:rPr>
              <a:t># Linux, mac, WSL</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a:t>
            </a:r>
            <a:r>
              <a:rPr lang="en-US" sz="1300" dirty="0">
                <a:solidFill>
                  <a:srgbClr val="E8A33D"/>
                </a:solidFill>
                <a:latin typeface="JetBrains Mono" pitchFamily="49" charset="0"/>
                <a:ea typeface="JetBrains Mono" pitchFamily="49" charset="-122"/>
                <a:cs typeface="JetBrains Mono" pitchFamily="49" charset="-120"/>
              </a:rPr>
              <a:t>install.ps1</a:t>
            </a:r>
            <a:r>
              <a:rPr lang="en-US" sz="1300" dirty="0">
                <a:solidFill>
                  <a:srgbClr val="F4F1EA"/>
                </a:solidFill>
                <a:latin typeface="JetBrains Mono" pitchFamily="49" charset="0"/>
                <a:ea typeface="JetBrains Mono" pitchFamily="49" charset="-122"/>
                <a:cs typeface="JetBrains Mono" pitchFamily="49" charset="-120"/>
              </a:rPr>
              <a:t>    </a:t>
            </a:r>
            <a:r>
              <a:rPr lang="en-US" sz="1300" dirty="0">
                <a:solidFill>
                  <a:srgbClr val="8B929C"/>
                </a:solidFill>
                <a:latin typeface="JetBrains Mono" pitchFamily="49" charset="0"/>
                <a:ea typeface="JetBrains Mono" pitchFamily="49" charset="-122"/>
                <a:cs typeface="JetBrains Mono" pitchFamily="49" charset="-120"/>
              </a:rPr>
              <a:t># Windows</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shell/</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 init.sh</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 aliases.sh</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 prompt.bash</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git/gitconfig</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tmux/tmux.conf</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editorconfig</a:t>
            </a:r>
            <a:endParaRPr lang="en-US" sz="1300" dirty="0"/>
          </a:p>
          <a:p>
            <a:pPr algn="l" indent="0" marL="0">
              <a:lnSpc>
                <a:spcPts val="1885"/>
              </a:lnSpc>
              <a:buNone/>
            </a:pPr>
            <a:r>
              <a:rPr lang="en-US" sz="1300" dirty="0">
                <a:solidFill>
                  <a:srgbClr val="F4F1EA"/>
                </a:solidFill>
                <a:latin typeface="JetBrains Mono" pitchFamily="49" charset="0"/>
                <a:ea typeface="JetBrains Mono" pitchFamily="49" charset="-122"/>
                <a:cs typeface="JetBrains Mono" pitchFamily="49" charset="-120"/>
              </a:rPr>
              <a:t>└── bin/           </a:t>
            </a:r>
            <a:r>
              <a:rPr lang="en-US" sz="1300" dirty="0">
                <a:solidFill>
                  <a:srgbClr val="8B929C"/>
                </a:solidFill>
                <a:latin typeface="JetBrains Mono" pitchFamily="49" charset="0"/>
                <a:ea typeface="JetBrains Mono" pitchFamily="49" charset="-122"/>
                <a:cs typeface="JetBrains Mono" pitchFamily="49" charset="-120"/>
              </a:rPr>
              <a:t># on PATH</a:t>
            </a:r>
            <a:endParaRPr lang="en-US" sz="1300" dirty="0"/>
          </a:p>
        </p:txBody>
      </p:sp>
      <p:sp>
        <p:nvSpPr>
          <p:cNvPr id="5" name="Shape 3"/>
          <p:cNvSpPr/>
          <p:nvPr/>
        </p:nvSpPr>
        <p:spPr>
          <a:xfrm>
            <a:off x="6064250" y="1935428"/>
            <a:ext cx="0" cy="581620"/>
          </a:xfrm>
          <a:prstGeom prst="line">
            <a:avLst/>
          </a:prstGeom>
          <a:noFill/>
          <a:ln w="38100">
            <a:solidFill>
              <a:srgbClr val="E8A33D"/>
            </a:solidFill>
            <a:prstDash val="solid"/>
          </a:ln>
        </p:spPr>
      </p:sp>
      <p:sp>
        <p:nvSpPr>
          <p:cNvPr id="6" name="Text 4"/>
          <p:cNvSpPr/>
          <p:nvPr/>
        </p:nvSpPr>
        <p:spPr>
          <a:xfrm>
            <a:off x="6261100" y="1960828"/>
            <a:ext cx="527164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History</a:t>
            </a:r>
            <a:endParaRPr lang="en-US" sz="1600" dirty="0"/>
          </a:p>
        </p:txBody>
      </p:sp>
      <p:sp>
        <p:nvSpPr>
          <p:cNvPr id="7" name="Text 5"/>
          <p:cNvSpPr/>
          <p:nvPr/>
        </p:nvSpPr>
        <p:spPr>
          <a:xfrm>
            <a:off x="6261100" y="2242741"/>
            <a:ext cx="527164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Why did I add that? </a:t>
            </a:r>
            <a:r>
              <a:rPr lang="en-US" sz="1400" b="1" dirty="0">
                <a:solidFill>
                  <a:srgbClr val="4A4F57"/>
                </a:solidFill>
                <a:latin typeface="Space Grotesk" pitchFamily="34" charset="0"/>
                <a:ea typeface="Space Grotesk" pitchFamily="34" charset="-122"/>
                <a:cs typeface="Space Grotesk" pitchFamily="34" charset="-120"/>
              </a:rPr>
              <a:t>git log</a:t>
            </a:r>
            <a:r>
              <a:rPr lang="en-US" sz="1400" dirty="0">
                <a:solidFill>
                  <a:srgbClr val="4A4F57"/>
                </a:solidFill>
                <a:latin typeface="Space Grotesk" pitchFamily="34" charset="0"/>
                <a:ea typeface="Space Grotesk" pitchFamily="34" charset="-122"/>
                <a:cs typeface="Space Grotesk" pitchFamily="34" charset="-120"/>
              </a:rPr>
              <a:t> knows.</a:t>
            </a:r>
            <a:endParaRPr lang="en-US" sz="1400" dirty="0"/>
          </a:p>
        </p:txBody>
      </p:sp>
      <p:sp>
        <p:nvSpPr>
          <p:cNvPr id="8" name="Shape 6"/>
          <p:cNvSpPr/>
          <p:nvPr/>
        </p:nvSpPr>
        <p:spPr>
          <a:xfrm>
            <a:off x="6064250" y="2669448"/>
            <a:ext cx="0" cy="581620"/>
          </a:xfrm>
          <a:prstGeom prst="line">
            <a:avLst/>
          </a:prstGeom>
          <a:noFill/>
          <a:ln w="38100">
            <a:solidFill>
              <a:srgbClr val="E8A33D"/>
            </a:solidFill>
            <a:prstDash val="solid"/>
          </a:ln>
        </p:spPr>
      </p:sp>
      <p:sp>
        <p:nvSpPr>
          <p:cNvPr id="9" name="Text 7"/>
          <p:cNvSpPr/>
          <p:nvPr/>
        </p:nvSpPr>
        <p:spPr>
          <a:xfrm>
            <a:off x="6261100" y="2694848"/>
            <a:ext cx="527164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Sync</a:t>
            </a:r>
            <a:endParaRPr lang="en-US" sz="1600" dirty="0"/>
          </a:p>
        </p:txBody>
      </p:sp>
      <p:sp>
        <p:nvSpPr>
          <p:cNvPr id="10" name="Text 8"/>
          <p:cNvSpPr/>
          <p:nvPr/>
        </p:nvSpPr>
        <p:spPr>
          <a:xfrm>
            <a:off x="6261100" y="2976761"/>
            <a:ext cx="527164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Change it on one machine, </a:t>
            </a:r>
            <a:r>
              <a:rPr lang="en-US" sz="1400" b="1" dirty="0">
                <a:solidFill>
                  <a:srgbClr val="4A4F57"/>
                </a:solidFill>
                <a:latin typeface="Space Grotesk" pitchFamily="34" charset="0"/>
                <a:ea typeface="Space Grotesk" pitchFamily="34" charset="-122"/>
                <a:cs typeface="Space Grotesk" pitchFamily="34" charset="-120"/>
              </a:rPr>
              <a:t>pull</a:t>
            </a:r>
            <a:r>
              <a:rPr lang="en-US" sz="1400" dirty="0">
                <a:solidFill>
                  <a:srgbClr val="4A4F57"/>
                </a:solidFill>
                <a:latin typeface="Space Grotesk" pitchFamily="34" charset="0"/>
                <a:ea typeface="Space Grotesk" pitchFamily="34" charset="-122"/>
                <a:cs typeface="Space Grotesk" pitchFamily="34" charset="-120"/>
              </a:rPr>
              <a:t> on the rest.</a:t>
            </a:r>
            <a:endParaRPr lang="en-US" sz="1400" dirty="0"/>
          </a:p>
        </p:txBody>
      </p:sp>
      <p:sp>
        <p:nvSpPr>
          <p:cNvPr id="11" name="Shape 9"/>
          <p:cNvSpPr/>
          <p:nvPr/>
        </p:nvSpPr>
        <p:spPr>
          <a:xfrm>
            <a:off x="6064250" y="3403468"/>
            <a:ext cx="0" cy="581620"/>
          </a:xfrm>
          <a:prstGeom prst="line">
            <a:avLst/>
          </a:prstGeom>
          <a:noFill/>
          <a:ln w="38100">
            <a:solidFill>
              <a:srgbClr val="E8A33D"/>
            </a:solidFill>
            <a:prstDash val="solid"/>
          </a:ln>
        </p:spPr>
      </p:sp>
      <p:sp>
        <p:nvSpPr>
          <p:cNvPr id="12" name="Text 10"/>
          <p:cNvSpPr/>
          <p:nvPr/>
        </p:nvSpPr>
        <p:spPr>
          <a:xfrm>
            <a:off x="6261100" y="3428868"/>
            <a:ext cx="527164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Undo</a:t>
            </a:r>
            <a:endParaRPr lang="en-US" sz="1600" dirty="0"/>
          </a:p>
        </p:txBody>
      </p:sp>
      <p:sp>
        <p:nvSpPr>
          <p:cNvPr id="13" name="Text 11"/>
          <p:cNvSpPr/>
          <p:nvPr/>
        </p:nvSpPr>
        <p:spPr>
          <a:xfrm>
            <a:off x="6261100" y="3710781"/>
            <a:ext cx="527164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Broke your prompt? </a:t>
            </a:r>
            <a:r>
              <a:rPr lang="en-US" sz="1400" b="1" dirty="0">
                <a:solidFill>
                  <a:srgbClr val="4A4F57"/>
                </a:solidFill>
                <a:latin typeface="Space Grotesk" pitchFamily="34" charset="0"/>
                <a:ea typeface="Space Grotesk" pitchFamily="34" charset="-122"/>
                <a:cs typeface="Space Grotesk" pitchFamily="34" charset="-120"/>
              </a:rPr>
              <a:t>git restore</a:t>
            </a:r>
            <a:r>
              <a:rPr lang="en-US" sz="1400" dirty="0">
                <a:solidFill>
                  <a:srgbClr val="4A4F57"/>
                </a:solidFill>
                <a:latin typeface="Space Grotesk" pitchFamily="34" charset="0"/>
                <a:ea typeface="Space Grotesk" pitchFamily="34" charset="-122"/>
                <a:cs typeface="Space Grotesk" pitchFamily="34" charset="-120"/>
              </a:rPr>
              <a:t>.</a:t>
            </a:r>
            <a:endParaRPr lang="en-US" sz="1400" dirty="0"/>
          </a:p>
        </p:txBody>
      </p:sp>
      <p:sp>
        <p:nvSpPr>
          <p:cNvPr id="14" name="Shape 12"/>
          <p:cNvSpPr/>
          <p:nvPr/>
        </p:nvSpPr>
        <p:spPr>
          <a:xfrm>
            <a:off x="6064250" y="4137489"/>
            <a:ext cx="0" cy="581620"/>
          </a:xfrm>
          <a:prstGeom prst="line">
            <a:avLst/>
          </a:prstGeom>
          <a:noFill/>
          <a:ln w="38100">
            <a:solidFill>
              <a:srgbClr val="E8A33D"/>
            </a:solidFill>
            <a:prstDash val="solid"/>
          </a:ln>
        </p:spPr>
      </p:sp>
      <p:sp>
        <p:nvSpPr>
          <p:cNvPr id="15" name="Text 13"/>
          <p:cNvSpPr/>
          <p:nvPr/>
        </p:nvSpPr>
        <p:spPr>
          <a:xfrm>
            <a:off x="6261100" y="4162889"/>
            <a:ext cx="527164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Share</a:t>
            </a:r>
            <a:endParaRPr lang="en-US" sz="1600" dirty="0"/>
          </a:p>
        </p:txBody>
      </p:sp>
      <p:sp>
        <p:nvSpPr>
          <p:cNvPr id="16" name="Text 14"/>
          <p:cNvSpPr/>
          <p:nvPr/>
        </p:nvSpPr>
        <p:spPr>
          <a:xfrm>
            <a:off x="6261100" y="4444802"/>
            <a:ext cx="527164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Steal good ideas from other people’s repos.</a:t>
            </a:r>
            <a:endParaRPr lang="en-US" sz="1400" dirty="0"/>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INSTALL.SH</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Four jobs, about 100 lines of bash</a:t>
            </a:r>
            <a:endParaRPr lang="en-US" sz="3600" dirty="0"/>
          </a:p>
        </p:txBody>
      </p:sp>
      <p:sp>
        <p:nvSpPr>
          <p:cNvPr id="4" name="Shape 2"/>
          <p:cNvSpPr/>
          <p:nvPr/>
        </p:nvSpPr>
        <p:spPr>
          <a:xfrm>
            <a:off x="819150" y="2043379"/>
            <a:ext cx="2247900" cy="2016522"/>
          </a:xfrm>
          <a:prstGeom prst="roundRect">
            <a:avLst>
              <a:gd name="adj" fmla="val 5983"/>
            </a:avLst>
          </a:prstGeom>
          <a:solidFill>
            <a:srgbClr val="FFFDF8"/>
          </a:solidFill>
          <a:ln w="12700">
            <a:solidFill>
              <a:srgbClr val="E2DCCF"/>
            </a:solidFill>
            <a:prstDash val="solid"/>
          </a:ln>
        </p:spPr>
      </p:sp>
      <p:sp>
        <p:nvSpPr>
          <p:cNvPr id="5" name="Text 3"/>
          <p:cNvSpPr/>
          <p:nvPr/>
        </p:nvSpPr>
        <p:spPr>
          <a:xfrm>
            <a:off x="1054100" y="2278329"/>
            <a:ext cx="18313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540A"/>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1054100" y="2593249"/>
            <a:ext cx="183134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Space Grotesk" pitchFamily="34" charset="0"/>
                <a:ea typeface="Space Grotesk" pitchFamily="34" charset="-122"/>
                <a:cs typeface="Space Grotesk" pitchFamily="34" charset="-120"/>
              </a:rPr>
              <a:t>Link</a:t>
            </a:r>
            <a:endParaRPr lang="en-US" sz="2200" dirty="0"/>
          </a:p>
        </p:txBody>
      </p:sp>
      <p:sp>
        <p:nvSpPr>
          <p:cNvPr id="7" name="Text 5"/>
          <p:cNvSpPr/>
          <p:nvPr/>
        </p:nvSpPr>
        <p:spPr>
          <a:xfrm>
            <a:off x="1054100" y="3030076"/>
            <a:ext cx="1831340"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7"/>
                </a:solidFill>
                <a:latin typeface="Space Grotesk" pitchFamily="34" charset="0"/>
                <a:ea typeface="Space Grotesk" pitchFamily="34" charset="-122"/>
                <a:cs typeface="Space Grotesk" pitchFamily="34" charset="-120"/>
              </a:rPr>
              <a:t>Symlink whole files into ~</a:t>
            </a:r>
            <a:endParaRPr lang="en-US" sz="1400" dirty="0"/>
          </a:p>
        </p:txBody>
      </p:sp>
      <p:sp>
        <p:nvSpPr>
          <p:cNvPr id="8" name="Text 6"/>
          <p:cNvSpPr/>
          <p:nvPr/>
        </p:nvSpPr>
        <p:spPr>
          <a:xfrm>
            <a:off x="1054100" y="3611631"/>
            <a:ext cx="1831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1F"/>
                </a:solidFill>
                <a:latin typeface="JetBrains Mono" pitchFamily="49" charset="0"/>
                <a:ea typeface="JetBrains Mono" pitchFamily="49" charset="-122"/>
                <a:cs typeface="JetBrains Mono" pitchFamily="49" charset="-120"/>
              </a:rPr>
              <a:t>~/.tmux.conf</a:t>
            </a:r>
            <a:endParaRPr lang="en-US" sz="1200" dirty="0"/>
          </a:p>
        </p:txBody>
      </p:sp>
      <p:pic>
        <p:nvPicPr>
          <p:cNvPr id="9" name="Image 0" descr="arrow-right">    </p:cNvPr>
          <p:cNvPicPr>
            <a:picLocks noChangeAspect="1"/>
          </p:cNvPicPr>
          <p:nvPr/>
        </p:nvPicPr>
        <p:blipFill>
          <a:blip r:embed="rId1"/>
          <a:srcRect l="0" r="0" t="0" b="0"/>
          <a:stretch/>
        </p:blipFill>
        <p:spPr>
          <a:xfrm>
            <a:off x="3200400" y="2988140"/>
            <a:ext cx="254000" cy="127000"/>
          </a:xfrm>
          <a:prstGeom prst="rect">
            <a:avLst/>
          </a:prstGeom>
        </p:spPr>
      </p:pic>
      <p:sp>
        <p:nvSpPr>
          <p:cNvPr id="10" name="Shape 7"/>
          <p:cNvSpPr/>
          <p:nvPr/>
        </p:nvSpPr>
        <p:spPr>
          <a:xfrm>
            <a:off x="3587750" y="2043379"/>
            <a:ext cx="2247900" cy="2016522"/>
          </a:xfrm>
          <a:prstGeom prst="roundRect">
            <a:avLst>
              <a:gd name="adj" fmla="val 5983"/>
            </a:avLst>
          </a:prstGeom>
          <a:solidFill>
            <a:srgbClr val="FFFDF8"/>
          </a:solidFill>
          <a:ln w="12700">
            <a:solidFill>
              <a:srgbClr val="E2DCCF"/>
            </a:solidFill>
            <a:prstDash val="solid"/>
          </a:ln>
        </p:spPr>
      </p:sp>
      <p:sp>
        <p:nvSpPr>
          <p:cNvPr id="11" name="Text 8"/>
          <p:cNvSpPr/>
          <p:nvPr/>
        </p:nvSpPr>
        <p:spPr>
          <a:xfrm>
            <a:off x="3822700" y="2278329"/>
            <a:ext cx="18313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540A"/>
                </a:solidFill>
                <a:latin typeface="JetBrains Mono" pitchFamily="49" charset="0"/>
                <a:ea typeface="JetBrains Mono" pitchFamily="49" charset="-122"/>
                <a:cs typeface="JetBrains Mono" pitchFamily="49" charset="-120"/>
              </a:rPr>
              <a:t>2</a:t>
            </a:r>
            <a:endParaRPr lang="en-US" sz="1200" dirty="0"/>
          </a:p>
        </p:txBody>
      </p:sp>
      <p:sp>
        <p:nvSpPr>
          <p:cNvPr id="12" name="Text 9"/>
          <p:cNvSpPr/>
          <p:nvPr/>
        </p:nvSpPr>
        <p:spPr>
          <a:xfrm>
            <a:off x="3822700" y="2593249"/>
            <a:ext cx="183134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Space Grotesk" pitchFamily="34" charset="0"/>
                <a:ea typeface="Space Grotesk" pitchFamily="34" charset="-122"/>
                <a:cs typeface="Space Grotesk" pitchFamily="34" charset="-120"/>
              </a:rPr>
              <a:t>Hook</a:t>
            </a:r>
            <a:endParaRPr lang="en-US" sz="2200" dirty="0"/>
          </a:p>
        </p:txBody>
      </p:sp>
      <p:sp>
        <p:nvSpPr>
          <p:cNvPr id="13" name="Text 10"/>
          <p:cNvSpPr/>
          <p:nvPr/>
        </p:nvSpPr>
        <p:spPr>
          <a:xfrm>
            <a:off x="3822700" y="3030076"/>
            <a:ext cx="1831340"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7"/>
                </a:solidFill>
                <a:latin typeface="Space Grotesk" pitchFamily="34" charset="0"/>
                <a:ea typeface="Space Grotesk" pitchFamily="34" charset="-122"/>
                <a:cs typeface="Space Grotesk" pitchFamily="34" charset="-120"/>
              </a:rPr>
              <a:t>One line that sources ours</a:t>
            </a:r>
            <a:endParaRPr lang="en-US" sz="1400" dirty="0"/>
          </a:p>
        </p:txBody>
      </p:sp>
      <p:sp>
        <p:nvSpPr>
          <p:cNvPr id="14" name="Text 11"/>
          <p:cNvSpPr/>
          <p:nvPr/>
        </p:nvSpPr>
        <p:spPr>
          <a:xfrm>
            <a:off x="3822700" y="3611631"/>
            <a:ext cx="1831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1F"/>
                </a:solidFill>
                <a:latin typeface="JetBrains Mono" pitchFamily="49" charset="0"/>
                <a:ea typeface="JetBrains Mono" pitchFamily="49" charset="-122"/>
                <a:cs typeface="JetBrains Mono" pitchFamily="49" charset="-120"/>
              </a:rPr>
              <a:t>~/.bashrc</a:t>
            </a:r>
            <a:endParaRPr lang="en-US" sz="1200" dirty="0"/>
          </a:p>
        </p:txBody>
      </p:sp>
      <p:pic>
        <p:nvPicPr>
          <p:cNvPr id="15" name="Image 1" descr="arrow-right">    </p:cNvPr>
          <p:cNvPicPr>
            <a:picLocks noChangeAspect="1"/>
          </p:cNvPicPr>
          <p:nvPr/>
        </p:nvPicPr>
        <p:blipFill>
          <a:blip r:embed="rId2"/>
          <a:srcRect l="0" r="0" t="0" b="0"/>
          <a:stretch/>
        </p:blipFill>
        <p:spPr>
          <a:xfrm>
            <a:off x="5969000" y="2988140"/>
            <a:ext cx="254000" cy="127000"/>
          </a:xfrm>
          <a:prstGeom prst="rect">
            <a:avLst/>
          </a:prstGeom>
        </p:spPr>
      </p:pic>
      <p:sp>
        <p:nvSpPr>
          <p:cNvPr id="16" name="Shape 12"/>
          <p:cNvSpPr/>
          <p:nvPr/>
        </p:nvSpPr>
        <p:spPr>
          <a:xfrm>
            <a:off x="6356350" y="2043379"/>
            <a:ext cx="2247900" cy="2016522"/>
          </a:xfrm>
          <a:prstGeom prst="roundRect">
            <a:avLst>
              <a:gd name="adj" fmla="val 5983"/>
            </a:avLst>
          </a:prstGeom>
          <a:solidFill>
            <a:srgbClr val="FFFDF8"/>
          </a:solidFill>
          <a:ln w="12700">
            <a:solidFill>
              <a:srgbClr val="E2DCCF"/>
            </a:solidFill>
            <a:prstDash val="solid"/>
          </a:ln>
        </p:spPr>
      </p:sp>
      <p:sp>
        <p:nvSpPr>
          <p:cNvPr id="17" name="Text 13"/>
          <p:cNvSpPr/>
          <p:nvPr/>
        </p:nvSpPr>
        <p:spPr>
          <a:xfrm>
            <a:off x="6591300" y="2278329"/>
            <a:ext cx="18313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540A"/>
                </a:solidFill>
                <a:latin typeface="JetBrains Mono" pitchFamily="49" charset="0"/>
                <a:ea typeface="JetBrains Mono" pitchFamily="49" charset="-122"/>
                <a:cs typeface="JetBrains Mono" pitchFamily="49" charset="-120"/>
              </a:rPr>
              <a:t>3</a:t>
            </a:r>
            <a:endParaRPr lang="en-US" sz="1200" dirty="0"/>
          </a:p>
        </p:txBody>
      </p:sp>
      <p:sp>
        <p:nvSpPr>
          <p:cNvPr id="18" name="Text 14"/>
          <p:cNvSpPr/>
          <p:nvPr/>
        </p:nvSpPr>
        <p:spPr>
          <a:xfrm>
            <a:off x="6591300" y="2593249"/>
            <a:ext cx="183134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Space Grotesk" pitchFamily="34" charset="0"/>
                <a:ea typeface="Space Grotesk" pitchFamily="34" charset="-122"/>
                <a:cs typeface="Space Grotesk" pitchFamily="34" charset="-120"/>
              </a:rPr>
              <a:t>Include</a:t>
            </a:r>
            <a:endParaRPr lang="en-US" sz="2200" dirty="0"/>
          </a:p>
        </p:txBody>
      </p:sp>
      <p:sp>
        <p:nvSpPr>
          <p:cNvPr id="19" name="Text 15"/>
          <p:cNvSpPr/>
          <p:nvPr/>
        </p:nvSpPr>
        <p:spPr>
          <a:xfrm>
            <a:off x="6591300" y="3030076"/>
            <a:ext cx="1831340"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7"/>
                </a:solidFill>
                <a:latin typeface="Space Grotesk" pitchFamily="34" charset="0"/>
                <a:ea typeface="Space Grotesk" pitchFamily="34" charset="-122"/>
                <a:cs typeface="Space Grotesk" pitchFamily="34" charset="-120"/>
              </a:rPr>
              <a:t>Git pulls our config in</a:t>
            </a:r>
            <a:endParaRPr lang="en-US" sz="1400" dirty="0"/>
          </a:p>
        </p:txBody>
      </p:sp>
      <p:sp>
        <p:nvSpPr>
          <p:cNvPr id="20" name="Text 16"/>
          <p:cNvSpPr/>
          <p:nvPr/>
        </p:nvSpPr>
        <p:spPr>
          <a:xfrm>
            <a:off x="6591300" y="3611631"/>
            <a:ext cx="1831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1F"/>
                </a:solidFill>
                <a:latin typeface="JetBrains Mono" pitchFamily="49" charset="0"/>
                <a:ea typeface="JetBrains Mono" pitchFamily="49" charset="-122"/>
                <a:cs typeface="JetBrains Mono" pitchFamily="49" charset="-120"/>
              </a:rPr>
              <a:t>~/.gitconfig</a:t>
            </a:r>
            <a:endParaRPr lang="en-US" sz="1200" dirty="0"/>
          </a:p>
        </p:txBody>
      </p:sp>
      <p:pic>
        <p:nvPicPr>
          <p:cNvPr id="21" name="Image 2" descr="arrow-right">    </p:cNvPr>
          <p:cNvPicPr>
            <a:picLocks noChangeAspect="1"/>
          </p:cNvPicPr>
          <p:nvPr/>
        </p:nvPicPr>
        <p:blipFill>
          <a:blip r:embed="rId3"/>
          <a:srcRect l="0" r="0" t="0" b="0"/>
          <a:stretch/>
        </p:blipFill>
        <p:spPr>
          <a:xfrm>
            <a:off x="8737600" y="2988140"/>
            <a:ext cx="254000" cy="127000"/>
          </a:xfrm>
          <a:prstGeom prst="rect">
            <a:avLst/>
          </a:prstGeom>
        </p:spPr>
      </p:pic>
      <p:sp>
        <p:nvSpPr>
          <p:cNvPr id="22" name="Shape 17"/>
          <p:cNvSpPr/>
          <p:nvPr/>
        </p:nvSpPr>
        <p:spPr>
          <a:xfrm>
            <a:off x="9124950" y="2043379"/>
            <a:ext cx="2247900" cy="2016522"/>
          </a:xfrm>
          <a:prstGeom prst="roundRect">
            <a:avLst>
              <a:gd name="adj" fmla="val 5983"/>
            </a:avLst>
          </a:prstGeom>
          <a:solidFill>
            <a:srgbClr val="FFFDF8"/>
          </a:solidFill>
          <a:ln w="12700">
            <a:solidFill>
              <a:srgbClr val="E2DCCF"/>
            </a:solidFill>
            <a:prstDash val="solid"/>
          </a:ln>
        </p:spPr>
      </p:sp>
      <p:sp>
        <p:nvSpPr>
          <p:cNvPr id="23" name="Text 18"/>
          <p:cNvSpPr/>
          <p:nvPr/>
        </p:nvSpPr>
        <p:spPr>
          <a:xfrm>
            <a:off x="9359900" y="2278329"/>
            <a:ext cx="18313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540A"/>
                </a:solidFill>
                <a:latin typeface="JetBrains Mono" pitchFamily="49" charset="0"/>
                <a:ea typeface="JetBrains Mono" pitchFamily="49" charset="-122"/>
                <a:cs typeface="JetBrains Mono" pitchFamily="49" charset="-120"/>
              </a:rPr>
              <a:t>4</a:t>
            </a:r>
            <a:endParaRPr lang="en-US" sz="1200" dirty="0"/>
          </a:p>
        </p:txBody>
      </p:sp>
      <p:sp>
        <p:nvSpPr>
          <p:cNvPr id="24" name="Text 19"/>
          <p:cNvSpPr/>
          <p:nvPr/>
        </p:nvSpPr>
        <p:spPr>
          <a:xfrm>
            <a:off x="9359900" y="2593249"/>
            <a:ext cx="183134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Space Grotesk" pitchFamily="34" charset="0"/>
                <a:ea typeface="Space Grotesk" pitchFamily="34" charset="-122"/>
                <a:cs typeface="Space Grotesk" pitchFamily="34" charset="-120"/>
              </a:rPr>
              <a:t>Install</a:t>
            </a:r>
            <a:endParaRPr lang="en-US" sz="2200" dirty="0"/>
          </a:p>
        </p:txBody>
      </p:sp>
      <p:sp>
        <p:nvSpPr>
          <p:cNvPr id="25" name="Text 20"/>
          <p:cNvSpPr/>
          <p:nvPr/>
        </p:nvSpPr>
        <p:spPr>
          <a:xfrm>
            <a:off x="9359900" y="3030076"/>
            <a:ext cx="1831340"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7"/>
                </a:solidFill>
                <a:latin typeface="Space Grotesk" pitchFamily="34" charset="0"/>
                <a:ea typeface="Space Grotesk" pitchFamily="34" charset="-122"/>
                <a:cs typeface="Space Grotesk" pitchFamily="34" charset="-120"/>
              </a:rPr>
              <a:t>Missing tools, any distro</a:t>
            </a:r>
            <a:endParaRPr lang="en-US" sz="1400" dirty="0"/>
          </a:p>
        </p:txBody>
      </p:sp>
      <p:sp>
        <p:nvSpPr>
          <p:cNvPr id="26" name="Text 21"/>
          <p:cNvSpPr/>
          <p:nvPr/>
        </p:nvSpPr>
        <p:spPr>
          <a:xfrm>
            <a:off x="9359900" y="3611631"/>
            <a:ext cx="1831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81F"/>
                </a:solidFill>
                <a:latin typeface="JetBrains Mono" pitchFamily="49" charset="0"/>
                <a:ea typeface="JetBrains Mono" pitchFamily="49" charset="-122"/>
                <a:cs typeface="JetBrains Mono" pitchFamily="49" charset="-120"/>
              </a:rPr>
              <a:t>jq tree tmux</a:t>
            </a:r>
            <a:endParaRPr lang="en-US" sz="1200" dirty="0"/>
          </a:p>
        </p:txBody>
      </p:sp>
      <p:sp>
        <p:nvSpPr>
          <p:cNvPr id="27" name="Text 22"/>
          <p:cNvSpPr/>
          <p:nvPr/>
        </p:nvSpPr>
        <p:spPr>
          <a:xfrm>
            <a:off x="812800" y="4472651"/>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F57"/>
                </a:solidFill>
                <a:latin typeface="Space Grotesk" pitchFamily="34" charset="0"/>
                <a:ea typeface="Space Grotesk" pitchFamily="34" charset="-122"/>
                <a:cs typeface="Space Grotesk" pitchFamily="34" charset="-120"/>
              </a:rPr>
              <a:t>It detects apt, apk, dnf or brew, and it never fails the container over a missing package.</a:t>
            </a:r>
            <a:endParaRPr lang="en-US" sz="1600" dirty="0"/>
          </a:p>
        </p:txBody>
      </p:sp>
      <p:sp>
        <p:nvSpPr>
          <p:cNvPr id="28"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29"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FOUR RULES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What makes an installer safe to run anywhere</a:t>
            </a:r>
            <a:endParaRPr lang="en-US" sz="3600" dirty="0"/>
          </a:p>
        </p:txBody>
      </p:sp>
      <p:sp>
        <p:nvSpPr>
          <p:cNvPr id="4" name="Shape 2"/>
          <p:cNvSpPr/>
          <p:nvPr/>
        </p:nvSpPr>
        <p:spPr>
          <a:xfrm>
            <a:off x="819150" y="1992579"/>
            <a:ext cx="5181600" cy="1361281"/>
          </a:xfrm>
          <a:prstGeom prst="roundRect">
            <a:avLst>
              <a:gd name="adj" fmla="val 8863"/>
            </a:avLst>
          </a:prstGeom>
          <a:solidFill>
            <a:srgbClr val="FFFDF8"/>
          </a:solidFill>
          <a:ln w="12700">
            <a:solidFill>
              <a:srgbClr val="E2DCCF"/>
            </a:solidFill>
            <a:prstDash val="solid"/>
          </a:ln>
        </p:spPr>
      </p:sp>
      <p:sp>
        <p:nvSpPr>
          <p:cNvPr id="5" name="Text 3"/>
          <p:cNvSpPr/>
          <p:nvPr/>
        </p:nvSpPr>
        <p:spPr>
          <a:xfrm>
            <a:off x="1054100" y="2227529"/>
            <a:ext cx="485305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Space Grotesk" pitchFamily="34" charset="0"/>
                <a:ea typeface="Space Grotesk" pitchFamily="34" charset="-122"/>
                <a:cs typeface="Space Grotesk" pitchFamily="34" charset="-120"/>
              </a:rPr>
              <a:t>Link, don’t copy</a:t>
            </a:r>
            <a:endParaRPr lang="en-US" sz="2200" dirty="0"/>
          </a:p>
        </p:txBody>
      </p:sp>
      <p:sp>
        <p:nvSpPr>
          <p:cNvPr id="6" name="Text 4"/>
          <p:cNvSpPr/>
          <p:nvPr/>
        </p:nvSpPr>
        <p:spPr>
          <a:xfrm>
            <a:off x="1054100" y="2638955"/>
            <a:ext cx="4853051"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7"/>
                </a:solidFill>
                <a:latin typeface="Space Grotesk" pitchFamily="34" charset="0"/>
                <a:ea typeface="Space Grotesk" pitchFamily="34" charset="-122"/>
                <a:cs typeface="Space Grotesk" pitchFamily="34" charset="-120"/>
              </a:rPr>
              <a:t>Edits are live right away, and </a:t>
            </a:r>
            <a:r>
              <a:rPr lang="en-US" sz="1400" b="1" dirty="0">
                <a:solidFill>
                  <a:srgbClr val="4A4F57"/>
                </a:solidFill>
                <a:latin typeface="Space Grotesk" pitchFamily="34" charset="0"/>
                <a:ea typeface="Space Grotesk" pitchFamily="34" charset="-122"/>
                <a:cs typeface="Space Grotesk" pitchFamily="34" charset="-120"/>
              </a:rPr>
              <a:t>git diff</a:t>
            </a:r>
            <a:r>
              <a:rPr lang="en-US" sz="1400" dirty="0">
                <a:solidFill>
                  <a:srgbClr val="4A4F57"/>
                </a:solidFill>
                <a:latin typeface="Space Grotesk" pitchFamily="34" charset="0"/>
                <a:ea typeface="Space Grotesk" pitchFamily="34" charset="-122"/>
                <a:cs typeface="Space Grotesk" pitchFamily="34" charset="-120"/>
              </a:rPr>
              <a:t> shows what changed.</a:t>
            </a:r>
            <a:endParaRPr lang="en-US" sz="1400" dirty="0"/>
          </a:p>
        </p:txBody>
      </p:sp>
      <p:sp>
        <p:nvSpPr>
          <p:cNvPr id="7" name="Shape 5"/>
          <p:cNvSpPr/>
          <p:nvPr/>
        </p:nvSpPr>
        <p:spPr>
          <a:xfrm>
            <a:off x="6191250" y="1992579"/>
            <a:ext cx="5181600" cy="1361281"/>
          </a:xfrm>
          <a:prstGeom prst="roundRect">
            <a:avLst>
              <a:gd name="adj" fmla="val 8863"/>
            </a:avLst>
          </a:prstGeom>
          <a:solidFill>
            <a:srgbClr val="FFFDF8"/>
          </a:solidFill>
          <a:ln w="12700">
            <a:solidFill>
              <a:srgbClr val="E2DCCF"/>
            </a:solidFill>
            <a:prstDash val="solid"/>
          </a:ln>
        </p:spPr>
      </p:sp>
      <p:sp>
        <p:nvSpPr>
          <p:cNvPr id="8" name="Text 6"/>
          <p:cNvSpPr/>
          <p:nvPr/>
        </p:nvSpPr>
        <p:spPr>
          <a:xfrm>
            <a:off x="6426200" y="2227529"/>
            <a:ext cx="485305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Space Grotesk" pitchFamily="34" charset="0"/>
                <a:ea typeface="Space Grotesk" pitchFamily="34" charset="-122"/>
                <a:cs typeface="Space Grotesk" pitchFamily="34" charset="-120"/>
              </a:rPr>
              <a:t>Include, don’t replace</a:t>
            </a:r>
            <a:endParaRPr lang="en-US" sz="2200" dirty="0"/>
          </a:p>
        </p:txBody>
      </p:sp>
      <p:sp>
        <p:nvSpPr>
          <p:cNvPr id="9" name="Text 7"/>
          <p:cNvSpPr/>
          <p:nvPr/>
        </p:nvSpPr>
        <p:spPr>
          <a:xfrm>
            <a:off x="6426200" y="2638955"/>
            <a:ext cx="4853051"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7"/>
                </a:solidFill>
                <a:latin typeface="Space Grotesk" pitchFamily="34" charset="0"/>
                <a:ea typeface="Space Grotesk" pitchFamily="34" charset="-122"/>
                <a:cs typeface="Space Grotesk" pitchFamily="34" charset="-120"/>
              </a:rPr>
              <a:t>.bashrc and .gitconfig belong to the machine. Add one line and leave the rest alone.</a:t>
            </a:r>
            <a:endParaRPr lang="en-US" sz="1400" dirty="0"/>
          </a:p>
        </p:txBody>
      </p:sp>
      <p:sp>
        <p:nvSpPr>
          <p:cNvPr id="10" name="Shape 8"/>
          <p:cNvSpPr/>
          <p:nvPr/>
        </p:nvSpPr>
        <p:spPr>
          <a:xfrm>
            <a:off x="819150" y="3544360"/>
            <a:ext cx="5181600" cy="1361281"/>
          </a:xfrm>
          <a:prstGeom prst="roundRect">
            <a:avLst>
              <a:gd name="adj" fmla="val 8863"/>
            </a:avLst>
          </a:prstGeom>
          <a:solidFill>
            <a:srgbClr val="FFFDF8"/>
          </a:solidFill>
          <a:ln w="12700">
            <a:solidFill>
              <a:srgbClr val="E2DCCF"/>
            </a:solidFill>
            <a:prstDash val="solid"/>
          </a:ln>
        </p:spPr>
      </p:sp>
      <p:sp>
        <p:nvSpPr>
          <p:cNvPr id="11" name="Text 9"/>
          <p:cNvSpPr/>
          <p:nvPr/>
        </p:nvSpPr>
        <p:spPr>
          <a:xfrm>
            <a:off x="1054100" y="3779310"/>
            <a:ext cx="485305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Space Grotesk" pitchFamily="34" charset="0"/>
                <a:ea typeface="Space Grotesk" pitchFamily="34" charset="-122"/>
                <a:cs typeface="Space Grotesk" pitchFamily="34" charset="-120"/>
              </a:rPr>
              <a:t>Safe to re-run</a:t>
            </a:r>
            <a:endParaRPr lang="en-US" sz="2200" dirty="0"/>
          </a:p>
        </p:txBody>
      </p:sp>
      <p:sp>
        <p:nvSpPr>
          <p:cNvPr id="12" name="Text 10"/>
          <p:cNvSpPr/>
          <p:nvPr/>
        </p:nvSpPr>
        <p:spPr>
          <a:xfrm>
            <a:off x="1054100" y="4190736"/>
            <a:ext cx="4853051"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7"/>
                </a:solidFill>
                <a:latin typeface="Space Grotesk" pitchFamily="34" charset="0"/>
                <a:ea typeface="Space Grotesk" pitchFamily="34" charset="-122"/>
                <a:cs typeface="Space Grotesk" pitchFamily="34" charset="-120"/>
              </a:rPr>
              <a:t>Twice is the same as once. Re-running is how you update.</a:t>
            </a:r>
            <a:endParaRPr lang="en-US" sz="1400" dirty="0"/>
          </a:p>
        </p:txBody>
      </p:sp>
      <p:sp>
        <p:nvSpPr>
          <p:cNvPr id="13" name="Shape 11"/>
          <p:cNvSpPr/>
          <p:nvPr/>
        </p:nvSpPr>
        <p:spPr>
          <a:xfrm>
            <a:off x="6191250" y="3544360"/>
            <a:ext cx="5181600" cy="1361281"/>
          </a:xfrm>
          <a:prstGeom prst="roundRect">
            <a:avLst>
              <a:gd name="adj" fmla="val 8863"/>
            </a:avLst>
          </a:prstGeom>
          <a:solidFill>
            <a:srgbClr val="FFFDF8"/>
          </a:solidFill>
          <a:ln w="12700">
            <a:solidFill>
              <a:srgbClr val="E2DCCF"/>
            </a:solidFill>
            <a:prstDash val="solid"/>
          </a:ln>
        </p:spPr>
      </p:sp>
      <p:sp>
        <p:nvSpPr>
          <p:cNvPr id="14" name="Text 12"/>
          <p:cNvSpPr/>
          <p:nvPr/>
        </p:nvSpPr>
        <p:spPr>
          <a:xfrm>
            <a:off x="6426200" y="3779310"/>
            <a:ext cx="485305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181F"/>
                </a:solidFill>
                <a:latin typeface="Space Grotesk" pitchFamily="34" charset="0"/>
                <a:ea typeface="Space Grotesk" pitchFamily="34" charset="-122"/>
                <a:cs typeface="Space Grotesk" pitchFamily="34" charset="-120"/>
              </a:rPr>
              <a:t>Best effort</a:t>
            </a:r>
            <a:endParaRPr lang="en-US" sz="2200" dirty="0"/>
          </a:p>
        </p:txBody>
      </p:sp>
      <p:sp>
        <p:nvSpPr>
          <p:cNvPr id="15" name="Text 13"/>
          <p:cNvSpPr/>
          <p:nvPr/>
        </p:nvSpPr>
        <p:spPr>
          <a:xfrm>
            <a:off x="6426200" y="4190736"/>
            <a:ext cx="4853051"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4F57"/>
                </a:solidFill>
                <a:latin typeface="Space Grotesk" pitchFamily="34" charset="0"/>
                <a:ea typeface="Space Grotesk" pitchFamily="34" charset="-122"/>
                <a:cs typeface="Space Grotesk" pitchFamily="34" charset="-120"/>
              </a:rPr>
              <a:t>A missing package is a warning, never a broken container.</a:t>
            </a:r>
            <a:endParaRPr lang="en-US" sz="14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INCLUDE, DON’T REPLACE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What actually changes on the machine</a:t>
            </a:r>
            <a:endParaRPr lang="en-US" sz="3600" dirty="0"/>
          </a:p>
        </p:txBody>
      </p:sp>
      <p:sp>
        <p:nvSpPr>
          <p:cNvPr id="4" name="Text 2"/>
          <p:cNvSpPr/>
          <p:nvPr/>
        </p:nvSpPr>
        <p:spPr>
          <a:xfrm>
            <a:off x="812800" y="193542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JetBrains Mono" pitchFamily="49" charset="0"/>
                <a:ea typeface="JetBrains Mono" pitchFamily="49" charset="-122"/>
                <a:cs typeface="JetBrains Mono" pitchFamily="49" charset="-120"/>
              </a:rPr>
              <a:t>~/.bashrc (last line)</a:t>
            </a:r>
            <a:endParaRPr lang="en-US" sz="1200" dirty="0"/>
          </a:p>
        </p:txBody>
      </p:sp>
      <p:sp>
        <p:nvSpPr>
          <p:cNvPr id="5" name="Text 3"/>
          <p:cNvSpPr/>
          <p:nvPr/>
        </p:nvSpPr>
        <p:spPr>
          <a:xfrm>
            <a:off x="812800" y="2224949"/>
            <a:ext cx="10566400" cy="901700"/>
          </a:xfrm>
          <a:prstGeom prst="roundRect">
            <a:avLst>
              <a:gd name="adj" fmla="val 14085"/>
            </a:avLst>
          </a:prstGeom>
          <a:solidFill>
            <a:srgbClr val="14181F"/>
          </a:solidFill>
          <a:ln/>
        </p:spPr>
        <p:txBody>
          <a:bodyPr wrap="square" lIns="216803" tIns="166003" rIns="0" bIns="140603" rtlCol="0" anchor="t">
            <a:normAutofit/>
          </a:bodyPr>
          <a:lstStyle/>
          <a:p>
            <a:pPr algn="l" indent="0" marL="0">
              <a:lnSpc>
                <a:spcPts val="1950"/>
              </a:lnSpc>
              <a:buNone/>
            </a:pPr>
            <a:r>
              <a:rPr lang="en-US" sz="1300" dirty="0">
                <a:solidFill>
                  <a:srgbClr val="8B929C"/>
                </a:solidFill>
                <a:latin typeface="JetBrains Mono" pitchFamily="49" charset="0"/>
                <a:ea typeface="JetBrains Mono" pitchFamily="49" charset="-122"/>
                <a:cs typeface="JetBrains Mono" pitchFamily="49" charset="-120"/>
              </a:rPr>
              <a:t># …the image’s own 100 lines, untouched…</a:t>
            </a:r>
            <a:endParaRPr lang="en-US" sz="1300" dirty="0"/>
          </a:p>
          <a:p>
            <a:pPr algn="l" indent="0" marL="0">
              <a:lnSpc>
                <a:spcPts val="1950"/>
              </a:lnSpc>
              <a:buNone/>
            </a:pPr>
            <a:r>
              <a:rPr lang="en-US" sz="1300" dirty="0">
                <a:solidFill>
                  <a:srgbClr val="F4F1EA"/>
                </a:solidFill>
                <a:latin typeface="JetBrains Mono" pitchFamily="49" charset="0"/>
                <a:ea typeface="JetBrains Mono" pitchFamily="49" charset="-122"/>
                <a:cs typeface="JetBrains Mono" pitchFamily="49" charset="-120"/>
              </a:rPr>
              <a:t>[ -f ~/dotfiles/shell/init.sh ] &amp;&amp; . ~/dotfiles/shell/init.sh  </a:t>
            </a:r>
            <a:r>
              <a:rPr lang="en-US" sz="1300" dirty="0">
                <a:solidFill>
                  <a:srgbClr val="E8A33D"/>
                </a:solidFill>
                <a:latin typeface="JetBrains Mono" pitchFamily="49" charset="0"/>
                <a:ea typeface="JetBrains Mono" pitchFamily="49" charset="-122"/>
                <a:cs typeface="JetBrains Mono" pitchFamily="49" charset="-120"/>
              </a:rPr>
              <a:t># dotfiles-demo</a:t>
            </a:r>
            <a:endParaRPr lang="en-US" sz="1300" dirty="0"/>
          </a:p>
        </p:txBody>
      </p:sp>
      <p:sp>
        <p:nvSpPr>
          <p:cNvPr id="6" name="Text 4"/>
          <p:cNvSpPr/>
          <p:nvPr/>
        </p:nvSpPr>
        <p:spPr>
          <a:xfrm>
            <a:off x="812800" y="343144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JetBrains Mono" pitchFamily="49" charset="0"/>
                <a:ea typeface="JetBrains Mono" pitchFamily="49" charset="-122"/>
                <a:cs typeface="JetBrains Mono" pitchFamily="49" charset="-120"/>
              </a:rPr>
              <a:t>~/.gitconfig</a:t>
            </a:r>
            <a:endParaRPr lang="en-US" sz="1200" dirty="0"/>
          </a:p>
        </p:txBody>
      </p:sp>
      <p:sp>
        <p:nvSpPr>
          <p:cNvPr id="7" name="Text 5"/>
          <p:cNvSpPr/>
          <p:nvPr/>
        </p:nvSpPr>
        <p:spPr>
          <a:xfrm>
            <a:off x="812800" y="3720970"/>
            <a:ext cx="10566400" cy="1397000"/>
          </a:xfrm>
          <a:prstGeom prst="roundRect">
            <a:avLst>
              <a:gd name="adj" fmla="val 9091"/>
            </a:avLst>
          </a:prstGeom>
          <a:solidFill>
            <a:srgbClr val="14181F"/>
          </a:solidFill>
          <a:ln/>
        </p:spPr>
        <p:txBody>
          <a:bodyPr wrap="square" lIns="216803" tIns="166003" rIns="0" bIns="140603" rtlCol="0" anchor="t">
            <a:normAutofit/>
          </a:bodyPr>
          <a:lstStyle/>
          <a:p>
            <a:pPr algn="l" indent="0" marL="0">
              <a:lnSpc>
                <a:spcPts val="1950"/>
              </a:lnSpc>
              <a:buNone/>
            </a:pPr>
            <a:r>
              <a:rPr lang="en-US" sz="1300" dirty="0">
                <a:solidFill>
                  <a:srgbClr val="F4F1EA"/>
                </a:solidFill>
                <a:latin typeface="JetBrains Mono" pitchFamily="49" charset="0"/>
                <a:ea typeface="JetBrains Mono" pitchFamily="49" charset="-122"/>
                <a:cs typeface="JetBrains Mono" pitchFamily="49" charset="-120"/>
              </a:rPr>
              <a:t>[user]</a:t>
            </a:r>
            <a:endParaRPr lang="en-US" sz="1300" dirty="0"/>
          </a:p>
          <a:p>
            <a:pPr algn="l" indent="0" marL="0">
              <a:lnSpc>
                <a:spcPts val="1950"/>
              </a:lnSpc>
              <a:buNone/>
            </a:pPr>
            <a:r>
              <a:rPr lang="en-US" sz="1300" dirty="0">
                <a:solidFill>
                  <a:srgbClr val="F4F1EA"/>
                </a:solidFill>
                <a:latin typeface="JetBrains Mono" pitchFamily="49" charset="0"/>
                <a:ea typeface="JetBrains Mono" pitchFamily="49" charset="-122"/>
                <a:cs typeface="JetBrains Mono" pitchFamily="49" charset="-120"/>
              </a:rPr>
              <a:t>    name = Duane Newman               </a:t>
            </a:r>
            <a:r>
              <a:rPr lang="en-US" sz="1300" dirty="0">
                <a:solidFill>
                  <a:srgbClr val="8B929C"/>
                </a:solidFill>
                <a:latin typeface="JetBrains Mono" pitchFamily="49" charset="0"/>
                <a:ea typeface="JetBrains Mono" pitchFamily="49" charset="-122"/>
                <a:cs typeface="JetBrains Mono" pitchFamily="49" charset="-120"/>
              </a:rPr>
              <a:t># copied in from the host by VS Code</a:t>
            </a:r>
            <a:endParaRPr lang="en-US" sz="1300" dirty="0"/>
          </a:p>
          <a:p>
            <a:pPr algn="l" indent="0" marL="0">
              <a:lnSpc>
                <a:spcPts val="1950"/>
              </a:lnSpc>
              <a:buNone/>
            </a:pPr>
            <a:r>
              <a:rPr lang="en-US" sz="1300" dirty="0">
                <a:solidFill>
                  <a:srgbClr val="F4F1EA"/>
                </a:solidFill>
                <a:latin typeface="JetBrains Mono" pitchFamily="49" charset="0"/>
                <a:ea typeface="JetBrains Mono" pitchFamily="49" charset="-122"/>
                <a:cs typeface="JetBrains Mono" pitchFamily="49" charset="-120"/>
              </a:rPr>
              <a:t>[include]</a:t>
            </a:r>
            <a:endParaRPr lang="en-US" sz="1300" dirty="0"/>
          </a:p>
          <a:p>
            <a:pPr algn="l" indent="0" marL="0">
              <a:lnSpc>
                <a:spcPts val="1950"/>
              </a:lnSpc>
              <a:buNone/>
            </a:pPr>
            <a:r>
              <a:rPr lang="en-US" sz="1300" dirty="0">
                <a:solidFill>
                  <a:srgbClr val="F4F1EA"/>
                </a:solidFill>
                <a:latin typeface="JetBrains Mono" pitchFamily="49" charset="0"/>
                <a:ea typeface="JetBrains Mono" pitchFamily="49" charset="-122"/>
                <a:cs typeface="JetBrains Mono" pitchFamily="49" charset="-120"/>
              </a:rPr>
              <a:t>    path = ~/dotfiles/git/gitconfig   </a:t>
            </a:r>
            <a:r>
              <a:rPr lang="en-US" sz="1300" dirty="0">
                <a:solidFill>
                  <a:srgbClr val="E8A33D"/>
                </a:solidFill>
                <a:latin typeface="JetBrains Mono" pitchFamily="49" charset="0"/>
                <a:ea typeface="JetBrains Mono" pitchFamily="49" charset="-122"/>
                <a:cs typeface="JetBrains Mono" pitchFamily="49" charset="-120"/>
              </a:rPr>
              <a:t># added by install.sh</a:t>
            </a:r>
            <a:endParaRPr lang="en-US" sz="1300" dirty="0"/>
          </a:p>
        </p:txBody>
      </p:sp>
      <p:sp>
        <p:nvSpPr>
          <p:cNvPr id="8"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SECRETS AND ONE-OFFS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Some things never go in the repo</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8929"/>
          <a:ext cx="10553700" cy="2133600"/>
        </p:xfrm>
        <a:graphic>
          <a:graphicData uri="http://schemas.openxmlformats.org/drawingml/2006/table">
            <a:tbl>
              <a:tblPr/>
              <a:tblGrid>
                <a:gridCol w="3377184"/>
                <a:gridCol w="3166110"/>
                <a:gridCol w="4010406"/>
              </a:tblGrid>
              <a:tr h="533400">
                <a:tc>
                  <a:txBody>
                    <a:bodyPr/>
                    <a:lstStyle/>
                    <a:p>
                      <a:pPr indent="0" marL="0">
                        <a:lnSpc>
                          <a:spcPts val="2100"/>
                        </a:lnSpc>
                        <a:buNone/>
                      </a:pPr>
                      <a:r>
                        <a:rPr lang="en-US" sz="1500" b="1" dirty="0">
                          <a:solidFill>
                            <a:srgbClr val="14181F"/>
                          </a:solidFill>
                          <a:latin typeface="Space Grotesk" pitchFamily="34" charset="0"/>
                          <a:ea typeface="Space Grotesk" pitchFamily="34" charset="-122"/>
                          <a:cs typeface="Space Grotesk" pitchFamily="34" charset="-120"/>
                        </a:rPr>
                        <a:t>File (not in Git)</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100"/>
                        </a:lnSpc>
                        <a:buNone/>
                      </a:pPr>
                      <a:r>
                        <a:rPr lang="en-US" sz="1500" b="1" dirty="0">
                          <a:solidFill>
                            <a:srgbClr val="14181F"/>
                          </a:solidFill>
                          <a:latin typeface="Space Grotesk" pitchFamily="34" charset="0"/>
                          <a:ea typeface="Space Grotesk" pitchFamily="34" charset="-122"/>
                          <a:cs typeface="Space Grotesk" pitchFamily="34" charset="-120"/>
                        </a:rPr>
                        <a:t>Loaded last by</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2100"/>
                        </a:lnSpc>
                        <a:buNone/>
                      </a:pPr>
                      <a:r>
                        <a:rPr lang="en-US" sz="1500" b="1" dirty="0">
                          <a:solidFill>
                            <a:srgbClr val="14181F"/>
                          </a:solidFill>
                          <a:latin typeface="Space Grotesk" pitchFamily="34" charset="0"/>
                          <a:ea typeface="Space Grotesk" pitchFamily="34" charset="-122"/>
                          <a:cs typeface="Space Grotesk" pitchFamily="34" charset="-120"/>
                        </a:rPr>
                        <a:t>Use it for</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533400">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~/.shell.local</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shell/init.sh</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tokens, proxies, machine paths</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33400">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~/.gitconfig.local</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C3C0BB"/>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git/gitconfig</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work email, signing key</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r>
              <a:tr h="533400">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~/.profile.local.ps1</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profile.ps1</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2100"/>
                        </a:lnSpc>
                        <a:buNone/>
                      </a:pPr>
                      <a:r>
                        <a:rPr lang="en-US" sz="1500" dirty="0">
                          <a:solidFill>
                            <a:srgbClr val="14181F"/>
                          </a:solidFill>
                          <a:latin typeface="Space Grotesk" pitchFamily="34" charset="0"/>
                          <a:ea typeface="Space Grotesk" pitchFamily="34" charset="-122"/>
                          <a:cs typeface="Space Grotesk" pitchFamily="34" charset="-120"/>
                        </a:rPr>
                        <a:t>the same, on Windows</a:t>
                      </a:r>
                      <a:endParaRPr lang="en-US" sz="1500" dirty="0">
                        <a:latin typeface="Space Grotesk" charset="0"/>
                        <a:ea typeface="Space Grotesk" charset="0"/>
                        <a:cs typeface="Space Grotesk" charset="0"/>
                      </a:endParaRPr>
                    </a:p>
                  </a:txBody>
                  <a:tcPr marL="152400" marR="152400" marT="127000" marB="1270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Shape 2"/>
          <p:cNvSpPr/>
          <p:nvPr/>
        </p:nvSpPr>
        <p:spPr>
          <a:xfrm>
            <a:off x="812800" y="4488129"/>
            <a:ext cx="10566400" cy="711200"/>
          </a:xfrm>
          <a:prstGeom prst="roundRect">
            <a:avLst>
              <a:gd name="adj" fmla="val 17857"/>
            </a:avLst>
          </a:prstGeom>
          <a:solidFill>
            <a:srgbClr val="14181F"/>
          </a:solidFill>
          <a:ln/>
        </p:spPr>
      </p:sp>
      <p:pic>
        <p:nvPicPr>
          <p:cNvPr id="6" name="Image 0" descr="Lock">    </p:cNvPr>
          <p:cNvPicPr>
            <a:picLocks noChangeAspect="1"/>
          </p:cNvPicPr>
          <p:nvPr/>
        </p:nvPicPr>
        <p:blipFill>
          <a:blip r:embed="rId1"/>
          <a:srcRect l="0" r="0" t="0" b="0"/>
          <a:stretch/>
        </p:blipFill>
        <p:spPr>
          <a:xfrm>
            <a:off x="1066800" y="4691329"/>
            <a:ext cx="304800" cy="304800"/>
          </a:xfrm>
          <a:prstGeom prst="rect">
            <a:avLst/>
          </a:prstGeom>
        </p:spPr>
      </p:pic>
      <p:sp>
        <p:nvSpPr>
          <p:cNvPr id="7" name="Text 3"/>
          <p:cNvSpPr/>
          <p:nvPr/>
        </p:nvSpPr>
        <p:spPr>
          <a:xfrm>
            <a:off x="1524000" y="4701518"/>
            <a:ext cx="673711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A"/>
                </a:solidFill>
                <a:latin typeface="Space Grotesk" pitchFamily="34" charset="0"/>
                <a:ea typeface="Space Grotesk" pitchFamily="34" charset="-122"/>
                <a:cs typeface="Space Grotesk" pitchFamily="34" charset="-120"/>
              </a:rPr>
              <a:t>Loaded last, so they win. A missing file is silently skipped.</a:t>
            </a:r>
            <a:endParaRPr lang="en-US" sz="1600" dirty="0"/>
          </a:p>
        </p:txBody>
      </p:sp>
      <p:sp>
        <p:nvSpPr>
          <p:cNvPr id="8"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9"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1441518"/>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E8A33D"/>
                </a:solidFill>
                <a:latin typeface="Space Grotesk" pitchFamily="34" charset="0"/>
                <a:ea typeface="Space Grotesk" pitchFamily="34" charset="-122"/>
                <a:cs typeface="Space Grotesk" pitchFamily="34" charset="-120"/>
              </a:rPr>
              <a:t>VS CODE DEV CONTAINERS</a:t>
            </a:r>
            <a:endParaRPr lang="en-US" sz="1600" dirty="0"/>
          </a:p>
        </p:txBody>
      </p:sp>
      <p:sp>
        <p:nvSpPr>
          <p:cNvPr id="3" name="Text 1"/>
          <p:cNvSpPr/>
          <p:nvPr>
            <p:ph type="title"/>
          </p:nvPr>
        </p:nvSpPr>
        <p:spPr>
          <a:xfrm>
            <a:off x="812800" y="1979947"/>
            <a:ext cx="9810750" cy="24257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4F1EA"/>
                </a:solidFill>
                <a:latin typeface="Space Grotesk" pitchFamily="34" charset="0"/>
                <a:ea typeface="Space Grotesk" pitchFamily="34" charset="-122"/>
                <a:cs typeface="Space Grotesk" pitchFamily="34" charset="-120"/>
              </a:rPr>
              <a:t>Every container starts empty. Yours doesn’t have to.</a:t>
            </a:r>
            <a:endParaRPr lang="en-US" sz="6000" dirty="0"/>
          </a:p>
        </p:txBody>
      </p:sp>
      <p:sp>
        <p:nvSpPr>
          <p:cNvPr id="4" name="Text 2"/>
          <p:cNvSpPr/>
          <p:nvPr/>
        </p:nvSpPr>
        <p:spPr>
          <a:xfrm>
            <a:off x="812800" y="4634247"/>
            <a:ext cx="9156700" cy="807641"/>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CDD3"/>
                </a:solidFill>
                <a:latin typeface="Space Grotesk" pitchFamily="34" charset="0"/>
                <a:ea typeface="Space Grotesk" pitchFamily="34" charset="-122"/>
                <a:cs typeface="Space Grotesk" pitchFamily="34" charset="-120"/>
              </a:rPr>
              <a:t>The project’s devcontainer.json sets up the project. Your dotfiles set up you.</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SETUP, ONCE PER MACHINE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Three VS Code user settings</a:t>
            </a:r>
            <a:endParaRPr lang="en-US" sz="3600" dirty="0"/>
          </a:p>
        </p:txBody>
      </p:sp>
      <p:sp>
        <p:nvSpPr>
          <p:cNvPr id="4" name="Text 2"/>
          <p:cNvSpPr/>
          <p:nvPr/>
        </p:nvSpPr>
        <p:spPr>
          <a:xfrm>
            <a:off x="812800" y="1986229"/>
            <a:ext cx="5715000" cy="2498990"/>
          </a:xfrm>
          <a:prstGeom prst="roundRect">
            <a:avLst>
              <a:gd name="adj" fmla="val 5082"/>
            </a:avLst>
          </a:prstGeom>
          <a:solidFill>
            <a:srgbClr val="14181F"/>
          </a:solidFill>
          <a:ln/>
        </p:spPr>
        <p:txBody>
          <a:bodyPr wrap="square" lIns="216803" tIns="216803" rIns="60593" bIns="191403" rtlCol="0" anchor="t">
            <a:normAutofit/>
          </a:bodyPr>
          <a:lstStyle/>
          <a:p>
            <a:pPr algn="l" indent="0" marL="0">
              <a:lnSpc>
                <a:spcPts val="2240"/>
              </a:lnSpc>
              <a:buNone/>
            </a:pPr>
            <a:r>
              <a:rPr lang="en-US" sz="1400" dirty="0">
                <a:solidFill>
                  <a:srgbClr val="8B929C"/>
                </a:solidFill>
                <a:latin typeface="JetBrains Mono" pitchFamily="49" charset="0"/>
                <a:ea typeface="JetBrains Mono" pitchFamily="49" charset="-122"/>
                <a:cs typeface="JetBrains Mono" pitchFamily="49" charset="-120"/>
              </a:rPr>
              <a:t>// settings.json (User, not Workspace)</a:t>
            </a:r>
            <a:endParaRPr lang="en-US" sz="1400" dirty="0"/>
          </a:p>
          <a:p>
            <a:pPr algn="l" indent="0" marL="0">
              <a:lnSpc>
                <a:spcPts val="2240"/>
              </a:lnSpc>
              <a:buNone/>
            </a:pPr>
            <a:r>
              <a:rPr lang="en-US" sz="1400" dirty="0">
                <a:solidFill>
                  <a:srgbClr val="E8A33D"/>
                </a:solidFill>
                <a:latin typeface="JetBrains Mono" pitchFamily="49" charset="0"/>
                <a:ea typeface="JetBrains Mono" pitchFamily="49" charset="-122"/>
                <a:cs typeface="JetBrains Mono" pitchFamily="49" charset="-120"/>
              </a:rPr>
              <a:t>"dotfiles.repository"</a:t>
            </a:r>
            <a:r>
              <a:rPr lang="en-US" sz="1400" dirty="0">
                <a:solidFill>
                  <a:srgbClr val="F4F1EA"/>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r>
              <a:rPr lang="en-US" sz="1400" dirty="0">
                <a:solidFill>
                  <a:srgbClr val="F4F1EA"/>
                </a:solidFill>
                <a:latin typeface="JetBrains Mono" pitchFamily="49" charset="0"/>
                <a:ea typeface="JetBrains Mono" pitchFamily="49" charset="-122"/>
                <a:cs typeface="JetBrains Mono" pitchFamily="49" charset="-120"/>
              </a:rPr>
              <a:t>  "duanenewman/dotfiles-demo",</a:t>
            </a:r>
            <a:endParaRPr lang="en-US" sz="1400" dirty="0"/>
          </a:p>
          <a:p>
            <a:pPr algn="l" indent="0" marL="0">
              <a:lnSpc>
                <a:spcPts val="2240"/>
              </a:lnSpc>
              <a:buNone/>
            </a:pPr>
            <a:r>
              <a:rPr lang="en-US" sz="1400" dirty="0">
                <a:solidFill>
                  <a:srgbClr val="E8A33D"/>
                </a:solidFill>
                <a:latin typeface="JetBrains Mono" pitchFamily="49" charset="0"/>
                <a:ea typeface="JetBrains Mono" pitchFamily="49" charset="-122"/>
                <a:cs typeface="JetBrains Mono" pitchFamily="49" charset="-120"/>
              </a:rPr>
              <a:t>"dotfiles.targetPath"</a:t>
            </a:r>
            <a:r>
              <a:rPr lang="en-US" sz="1400" dirty="0">
                <a:solidFill>
                  <a:srgbClr val="F4F1EA"/>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r>
              <a:rPr lang="en-US" sz="1400" dirty="0">
                <a:solidFill>
                  <a:srgbClr val="F4F1EA"/>
                </a:solidFill>
                <a:latin typeface="JetBrains Mono" pitchFamily="49" charset="0"/>
                <a:ea typeface="JetBrains Mono" pitchFamily="49" charset="-122"/>
                <a:cs typeface="JetBrains Mono" pitchFamily="49" charset="-120"/>
              </a:rPr>
              <a:t>  "~/dotfiles",</a:t>
            </a:r>
            <a:endParaRPr lang="en-US" sz="1400" dirty="0"/>
          </a:p>
          <a:p>
            <a:pPr algn="l" indent="0" marL="0">
              <a:lnSpc>
                <a:spcPts val="2240"/>
              </a:lnSpc>
              <a:buNone/>
            </a:pPr>
            <a:r>
              <a:rPr lang="en-US" sz="1400" dirty="0">
                <a:solidFill>
                  <a:srgbClr val="E8A33D"/>
                </a:solidFill>
                <a:latin typeface="JetBrains Mono" pitchFamily="49" charset="0"/>
                <a:ea typeface="JetBrains Mono" pitchFamily="49" charset="-122"/>
                <a:cs typeface="JetBrains Mono" pitchFamily="49" charset="-120"/>
              </a:rPr>
              <a:t>"dotfiles.installCommand"</a:t>
            </a:r>
            <a:r>
              <a:rPr lang="en-US" sz="1400" dirty="0">
                <a:solidFill>
                  <a:srgbClr val="F4F1EA"/>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r>
              <a:rPr lang="en-US" sz="1400" dirty="0">
                <a:solidFill>
                  <a:srgbClr val="F4F1EA"/>
                </a:solidFill>
                <a:latin typeface="JetBrains Mono" pitchFamily="49" charset="0"/>
                <a:ea typeface="JetBrains Mono" pitchFamily="49" charset="-122"/>
                <a:cs typeface="JetBrains Mono" pitchFamily="49" charset="-120"/>
              </a:rPr>
              <a:t>  "install.sh"</a:t>
            </a:r>
            <a:endParaRPr lang="en-US" sz="1400" dirty="0"/>
          </a:p>
        </p:txBody>
      </p:sp>
      <p:sp>
        <p:nvSpPr>
          <p:cNvPr id="5" name="Text 3"/>
          <p:cNvSpPr/>
          <p:nvPr/>
        </p:nvSpPr>
        <p:spPr>
          <a:xfrm>
            <a:off x="6934200" y="1986229"/>
            <a:ext cx="457835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repository</a:t>
            </a:r>
            <a:endParaRPr lang="en-US" sz="1600" dirty="0"/>
          </a:p>
        </p:txBody>
      </p:sp>
      <p:sp>
        <p:nvSpPr>
          <p:cNvPr id="6" name="Text 4"/>
          <p:cNvSpPr/>
          <p:nvPr/>
        </p:nvSpPr>
        <p:spPr>
          <a:xfrm>
            <a:off x="6934200" y="2280841"/>
            <a:ext cx="457835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GitHub owner/repo or any Git URL. Host credentials are forwarded, so private repos work.</a:t>
            </a:r>
            <a:endParaRPr lang="en-US" sz="1400" dirty="0"/>
          </a:p>
        </p:txBody>
      </p:sp>
      <p:sp>
        <p:nvSpPr>
          <p:cNvPr id="7" name="Text 5"/>
          <p:cNvSpPr/>
          <p:nvPr/>
        </p:nvSpPr>
        <p:spPr>
          <a:xfrm>
            <a:off x="6934200" y="3007258"/>
            <a:ext cx="457835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targetPath</a:t>
            </a:r>
            <a:endParaRPr lang="en-US" sz="1600" dirty="0"/>
          </a:p>
        </p:txBody>
      </p:sp>
      <p:sp>
        <p:nvSpPr>
          <p:cNvPr id="8" name="Text 6"/>
          <p:cNvSpPr/>
          <p:nvPr/>
        </p:nvSpPr>
        <p:spPr>
          <a:xfrm>
            <a:off x="6934200" y="3301870"/>
            <a:ext cx="457835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Where it’s cloned inside the container.</a:t>
            </a:r>
            <a:endParaRPr lang="en-US" sz="1400" dirty="0"/>
          </a:p>
        </p:txBody>
      </p:sp>
      <p:sp>
        <p:nvSpPr>
          <p:cNvPr id="9" name="Text 7"/>
          <p:cNvSpPr/>
          <p:nvPr/>
        </p:nvSpPr>
        <p:spPr>
          <a:xfrm>
            <a:off x="6934200" y="3779379"/>
            <a:ext cx="457835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installCommand</a:t>
            </a:r>
            <a:endParaRPr lang="en-US" sz="1600" dirty="0"/>
          </a:p>
        </p:txBody>
      </p:sp>
      <p:sp>
        <p:nvSpPr>
          <p:cNvPr id="10" name="Text 8"/>
          <p:cNvSpPr/>
          <p:nvPr/>
        </p:nvSpPr>
        <p:spPr>
          <a:xfrm>
            <a:off x="6934200" y="4073990"/>
            <a:ext cx="457835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Optional. It finds install.sh, bootstrap.sh or setup.sh on its own.</a:t>
            </a:r>
            <a:endParaRPr lang="en-US" sz="1400" dirty="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WHEN IT RUNS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Once, right after the container is created</a:t>
            </a:r>
            <a:endParaRPr lang="en-US" sz="3600" dirty="0"/>
          </a:p>
        </p:txBody>
      </p:sp>
      <p:sp>
        <p:nvSpPr>
          <p:cNvPr id="4" name="Shape 2"/>
          <p:cNvSpPr/>
          <p:nvPr/>
        </p:nvSpPr>
        <p:spPr>
          <a:xfrm>
            <a:off x="819150" y="2165288"/>
            <a:ext cx="1765300" cy="927034"/>
          </a:xfrm>
          <a:prstGeom prst="roundRect">
            <a:avLst>
              <a:gd name="adj" fmla="val 13015"/>
            </a:avLst>
          </a:prstGeom>
          <a:solidFill>
            <a:srgbClr val="FFFDF8"/>
          </a:solidFill>
          <a:ln w="12700">
            <a:solidFill>
              <a:srgbClr val="E2DCCF"/>
            </a:solidFill>
            <a:prstDash val="solid"/>
          </a:ln>
        </p:spPr>
      </p:sp>
      <p:sp>
        <p:nvSpPr>
          <p:cNvPr id="5" name="Text 3"/>
          <p:cNvSpPr/>
          <p:nvPr/>
        </p:nvSpPr>
        <p:spPr>
          <a:xfrm>
            <a:off x="1003300" y="2374838"/>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project</a:t>
            </a:r>
            <a:endParaRPr lang="en-US" sz="1200" dirty="0"/>
          </a:p>
        </p:txBody>
      </p:sp>
      <p:sp>
        <p:nvSpPr>
          <p:cNvPr id="6" name="Text 4"/>
          <p:cNvSpPr/>
          <p:nvPr/>
        </p:nvSpPr>
        <p:spPr>
          <a:xfrm>
            <a:off x="1003300" y="2638958"/>
            <a:ext cx="14478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Build image</a:t>
            </a:r>
            <a:endParaRPr lang="en-US" sz="1600" dirty="0"/>
          </a:p>
        </p:txBody>
      </p:sp>
      <p:pic>
        <p:nvPicPr>
          <p:cNvPr id="7" name="Image 0" descr="arrow-right">    </p:cNvPr>
          <p:cNvPicPr>
            <a:picLocks noChangeAspect="1"/>
          </p:cNvPicPr>
          <p:nvPr/>
        </p:nvPicPr>
        <p:blipFill>
          <a:blip r:embed="rId1"/>
          <a:srcRect l="0" r="0" t="0" b="0"/>
          <a:stretch/>
        </p:blipFill>
        <p:spPr>
          <a:xfrm>
            <a:off x="2692400" y="2571620"/>
            <a:ext cx="228600" cy="114300"/>
          </a:xfrm>
          <a:prstGeom prst="rect">
            <a:avLst/>
          </a:prstGeom>
        </p:spPr>
      </p:pic>
      <p:sp>
        <p:nvSpPr>
          <p:cNvPr id="8" name="Shape 5"/>
          <p:cNvSpPr/>
          <p:nvPr/>
        </p:nvSpPr>
        <p:spPr>
          <a:xfrm>
            <a:off x="3028950" y="2043379"/>
            <a:ext cx="1765300" cy="1170847"/>
          </a:xfrm>
          <a:prstGeom prst="roundRect">
            <a:avLst>
              <a:gd name="adj" fmla="val 10305"/>
            </a:avLst>
          </a:prstGeom>
          <a:solidFill>
            <a:srgbClr val="FFFDF8"/>
          </a:solidFill>
          <a:ln w="12700">
            <a:solidFill>
              <a:srgbClr val="E2DCCF"/>
            </a:solidFill>
            <a:prstDash val="solid"/>
          </a:ln>
        </p:spPr>
      </p:sp>
      <p:sp>
        <p:nvSpPr>
          <p:cNvPr id="9" name="Text 6"/>
          <p:cNvSpPr/>
          <p:nvPr/>
        </p:nvSpPr>
        <p:spPr>
          <a:xfrm>
            <a:off x="3213100" y="2252929"/>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project</a:t>
            </a:r>
            <a:endParaRPr lang="en-US" sz="1200" dirty="0"/>
          </a:p>
        </p:txBody>
      </p:sp>
      <p:sp>
        <p:nvSpPr>
          <p:cNvPr id="10" name="Text 7"/>
          <p:cNvSpPr/>
          <p:nvPr/>
        </p:nvSpPr>
        <p:spPr>
          <a:xfrm>
            <a:off x="3213100" y="2517049"/>
            <a:ext cx="1447800"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Create container</a:t>
            </a:r>
            <a:endParaRPr lang="en-US" sz="1600" dirty="0"/>
          </a:p>
        </p:txBody>
      </p:sp>
      <p:pic>
        <p:nvPicPr>
          <p:cNvPr id="11" name="Image 1" descr="arrow-right">    </p:cNvPr>
          <p:cNvPicPr>
            <a:picLocks noChangeAspect="1"/>
          </p:cNvPicPr>
          <p:nvPr/>
        </p:nvPicPr>
        <p:blipFill>
          <a:blip r:embed="rId2"/>
          <a:srcRect l="0" r="0" t="0" b="0"/>
          <a:stretch/>
        </p:blipFill>
        <p:spPr>
          <a:xfrm>
            <a:off x="4902200" y="2571620"/>
            <a:ext cx="228600" cy="114300"/>
          </a:xfrm>
          <a:prstGeom prst="rect">
            <a:avLst/>
          </a:prstGeom>
        </p:spPr>
      </p:pic>
      <p:sp>
        <p:nvSpPr>
          <p:cNvPr id="12" name="Shape 8"/>
          <p:cNvSpPr/>
          <p:nvPr/>
        </p:nvSpPr>
        <p:spPr>
          <a:xfrm>
            <a:off x="5232400" y="2171638"/>
            <a:ext cx="1752600" cy="914334"/>
          </a:xfrm>
          <a:prstGeom prst="roundRect">
            <a:avLst>
              <a:gd name="adj" fmla="val 13890"/>
            </a:avLst>
          </a:prstGeom>
          <a:solidFill>
            <a:srgbClr val="14181F"/>
          </a:solidFill>
          <a:ln/>
        </p:spPr>
      </p:sp>
      <p:sp>
        <p:nvSpPr>
          <p:cNvPr id="13" name="Text 9"/>
          <p:cNvSpPr/>
          <p:nvPr/>
        </p:nvSpPr>
        <p:spPr>
          <a:xfrm>
            <a:off x="5410200" y="2374838"/>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Space Grotesk" pitchFamily="34" charset="0"/>
                <a:ea typeface="Space Grotesk" pitchFamily="34" charset="-122"/>
                <a:cs typeface="Space Grotesk" pitchFamily="34" charset="-120"/>
              </a:rPr>
              <a:t>you</a:t>
            </a:r>
            <a:endParaRPr lang="en-US" sz="1200" dirty="0"/>
          </a:p>
        </p:txBody>
      </p:sp>
      <p:sp>
        <p:nvSpPr>
          <p:cNvPr id="14" name="Text 10"/>
          <p:cNvSpPr/>
          <p:nvPr/>
        </p:nvSpPr>
        <p:spPr>
          <a:xfrm>
            <a:off x="5410200" y="2638958"/>
            <a:ext cx="14478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Clone dotfiles</a:t>
            </a:r>
            <a:endParaRPr lang="en-US" sz="1600" dirty="0"/>
          </a:p>
        </p:txBody>
      </p:sp>
      <p:pic>
        <p:nvPicPr>
          <p:cNvPr id="15" name="Image 2" descr="arrow-right">    </p:cNvPr>
          <p:cNvPicPr>
            <a:picLocks noChangeAspect="1"/>
          </p:cNvPicPr>
          <p:nvPr/>
        </p:nvPicPr>
        <p:blipFill>
          <a:blip r:embed="rId3"/>
          <a:srcRect l="0" r="0" t="0" b="0"/>
          <a:stretch/>
        </p:blipFill>
        <p:spPr>
          <a:xfrm>
            <a:off x="7086600" y="2571620"/>
            <a:ext cx="228600" cy="114300"/>
          </a:xfrm>
          <a:prstGeom prst="rect">
            <a:avLst/>
          </a:prstGeom>
        </p:spPr>
      </p:pic>
      <p:sp>
        <p:nvSpPr>
          <p:cNvPr id="16" name="Shape 11"/>
          <p:cNvSpPr/>
          <p:nvPr/>
        </p:nvSpPr>
        <p:spPr>
          <a:xfrm>
            <a:off x="7416800" y="2171638"/>
            <a:ext cx="1752600" cy="914334"/>
          </a:xfrm>
          <a:prstGeom prst="roundRect">
            <a:avLst>
              <a:gd name="adj" fmla="val 13890"/>
            </a:avLst>
          </a:prstGeom>
          <a:solidFill>
            <a:srgbClr val="14181F"/>
          </a:solidFill>
          <a:ln/>
        </p:spPr>
      </p:sp>
      <p:sp>
        <p:nvSpPr>
          <p:cNvPr id="17" name="Text 12"/>
          <p:cNvSpPr/>
          <p:nvPr/>
        </p:nvSpPr>
        <p:spPr>
          <a:xfrm>
            <a:off x="7594600" y="2374838"/>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A33D"/>
                </a:solidFill>
                <a:latin typeface="Space Grotesk" pitchFamily="34" charset="0"/>
                <a:ea typeface="Space Grotesk" pitchFamily="34" charset="-122"/>
                <a:cs typeface="Space Grotesk" pitchFamily="34" charset="-120"/>
              </a:rPr>
              <a:t>you</a:t>
            </a:r>
            <a:endParaRPr lang="en-US" sz="1200" dirty="0"/>
          </a:p>
        </p:txBody>
      </p:sp>
      <p:sp>
        <p:nvSpPr>
          <p:cNvPr id="18" name="Text 13"/>
          <p:cNvSpPr/>
          <p:nvPr/>
        </p:nvSpPr>
        <p:spPr>
          <a:xfrm>
            <a:off x="7594600" y="2638958"/>
            <a:ext cx="14478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1EA"/>
                </a:solidFill>
                <a:latin typeface="Space Grotesk" pitchFamily="34" charset="0"/>
                <a:ea typeface="Space Grotesk" pitchFamily="34" charset="-122"/>
                <a:cs typeface="Space Grotesk" pitchFamily="34" charset="-120"/>
              </a:rPr>
              <a:t>Run install.sh</a:t>
            </a:r>
            <a:endParaRPr lang="en-US" sz="1600" dirty="0"/>
          </a:p>
        </p:txBody>
      </p:sp>
      <p:pic>
        <p:nvPicPr>
          <p:cNvPr id="19" name="Image 3" descr="arrow-right">    </p:cNvPr>
          <p:cNvPicPr>
            <a:picLocks noChangeAspect="1"/>
          </p:cNvPicPr>
          <p:nvPr/>
        </p:nvPicPr>
        <p:blipFill>
          <a:blip r:embed="rId4"/>
          <a:srcRect l="0" r="0" t="0" b="0"/>
          <a:stretch/>
        </p:blipFill>
        <p:spPr>
          <a:xfrm>
            <a:off x="9271000" y="2571620"/>
            <a:ext cx="228600" cy="114300"/>
          </a:xfrm>
          <a:prstGeom prst="rect">
            <a:avLst/>
          </a:prstGeom>
        </p:spPr>
      </p:pic>
      <p:sp>
        <p:nvSpPr>
          <p:cNvPr id="20" name="Shape 14"/>
          <p:cNvSpPr/>
          <p:nvPr/>
        </p:nvSpPr>
        <p:spPr>
          <a:xfrm>
            <a:off x="9607550" y="2165288"/>
            <a:ext cx="1765300" cy="927034"/>
          </a:xfrm>
          <a:prstGeom prst="roundRect">
            <a:avLst>
              <a:gd name="adj" fmla="val 13015"/>
            </a:avLst>
          </a:prstGeom>
          <a:solidFill>
            <a:srgbClr val="FFFDF8"/>
          </a:solidFill>
          <a:ln w="12700">
            <a:solidFill>
              <a:srgbClr val="E2DCCF"/>
            </a:solidFill>
            <a:prstDash val="solid"/>
          </a:ln>
        </p:spPr>
      </p:sp>
      <p:sp>
        <p:nvSpPr>
          <p:cNvPr id="21" name="Text 15"/>
          <p:cNvSpPr/>
          <p:nvPr/>
        </p:nvSpPr>
        <p:spPr>
          <a:xfrm>
            <a:off x="9791700" y="2374838"/>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ready</a:t>
            </a:r>
            <a:endParaRPr lang="en-US" sz="1200" dirty="0"/>
          </a:p>
        </p:txBody>
      </p:sp>
      <p:sp>
        <p:nvSpPr>
          <p:cNvPr id="22" name="Text 16"/>
          <p:cNvSpPr/>
          <p:nvPr/>
        </p:nvSpPr>
        <p:spPr>
          <a:xfrm>
            <a:off x="9791700" y="2638958"/>
            <a:ext cx="15748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Open terminal</a:t>
            </a:r>
            <a:endParaRPr lang="en-US" sz="1600" dirty="0"/>
          </a:p>
        </p:txBody>
      </p:sp>
      <p:sp>
        <p:nvSpPr>
          <p:cNvPr id="23" name="Shape 17"/>
          <p:cNvSpPr/>
          <p:nvPr/>
        </p:nvSpPr>
        <p:spPr>
          <a:xfrm>
            <a:off x="831850" y="3626979"/>
            <a:ext cx="0" cy="843227"/>
          </a:xfrm>
          <a:prstGeom prst="line">
            <a:avLst/>
          </a:prstGeom>
          <a:noFill/>
          <a:ln w="38100">
            <a:solidFill>
              <a:srgbClr val="E8A33D"/>
            </a:solidFill>
            <a:prstDash val="solid"/>
          </a:ln>
        </p:spPr>
      </p:sp>
      <p:sp>
        <p:nvSpPr>
          <p:cNvPr id="24" name="Text 18"/>
          <p:cNvSpPr/>
          <p:nvPr/>
        </p:nvSpPr>
        <p:spPr>
          <a:xfrm>
            <a:off x="1028700" y="3652379"/>
            <a:ext cx="512775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Changed your dotfiles?</a:t>
            </a:r>
            <a:endParaRPr lang="en-US" sz="1600" dirty="0"/>
          </a:p>
        </p:txBody>
      </p:sp>
      <p:sp>
        <p:nvSpPr>
          <p:cNvPr id="25" name="Text 19"/>
          <p:cNvSpPr/>
          <p:nvPr/>
        </p:nvSpPr>
        <p:spPr>
          <a:xfrm>
            <a:off x="1028700" y="3946990"/>
            <a:ext cx="512775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Rebuild the container, or run </a:t>
            </a:r>
            <a:r>
              <a:rPr lang="en-US" sz="1400" b="1" dirty="0">
                <a:solidFill>
                  <a:srgbClr val="4A4F57"/>
                </a:solidFill>
                <a:latin typeface="Space Grotesk" pitchFamily="34" charset="0"/>
                <a:ea typeface="Space Grotesk" pitchFamily="34" charset="-122"/>
                <a:cs typeface="Space Grotesk" pitchFamily="34" charset="-120"/>
              </a:rPr>
              <a:t>dotfiles update</a:t>
            </a:r>
            <a:r>
              <a:rPr lang="en-US" sz="1400" dirty="0">
                <a:solidFill>
                  <a:srgbClr val="4A4F57"/>
                </a:solidFill>
                <a:latin typeface="Space Grotesk" pitchFamily="34" charset="0"/>
                <a:ea typeface="Space Grotesk" pitchFamily="34" charset="-122"/>
                <a:cs typeface="Space Grotesk" pitchFamily="34" charset="-120"/>
              </a:rPr>
              <a:t> inside it.</a:t>
            </a:r>
            <a:endParaRPr lang="en-US" sz="1400" dirty="0"/>
          </a:p>
        </p:txBody>
      </p:sp>
      <p:sp>
        <p:nvSpPr>
          <p:cNvPr id="26" name="Shape 20"/>
          <p:cNvSpPr/>
          <p:nvPr/>
        </p:nvSpPr>
        <p:spPr>
          <a:xfrm>
            <a:off x="6203950" y="3626979"/>
            <a:ext cx="0" cy="843227"/>
          </a:xfrm>
          <a:prstGeom prst="line">
            <a:avLst/>
          </a:prstGeom>
          <a:noFill/>
          <a:ln w="38100">
            <a:solidFill>
              <a:srgbClr val="E8A33D"/>
            </a:solidFill>
            <a:prstDash val="solid"/>
          </a:ln>
        </p:spPr>
      </p:sp>
      <p:sp>
        <p:nvSpPr>
          <p:cNvPr id="27" name="Text 21"/>
          <p:cNvSpPr/>
          <p:nvPr/>
        </p:nvSpPr>
        <p:spPr>
          <a:xfrm>
            <a:off x="6400800" y="3652379"/>
            <a:ext cx="512775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Didn’t work?</a:t>
            </a:r>
            <a:endParaRPr lang="en-US" sz="1600" dirty="0"/>
          </a:p>
        </p:txBody>
      </p:sp>
      <p:sp>
        <p:nvSpPr>
          <p:cNvPr id="28" name="Text 22"/>
          <p:cNvSpPr/>
          <p:nvPr/>
        </p:nvSpPr>
        <p:spPr>
          <a:xfrm>
            <a:off x="6400800" y="3946990"/>
            <a:ext cx="512775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4F57"/>
                </a:solidFill>
                <a:latin typeface="Space Grotesk" pitchFamily="34" charset="0"/>
                <a:ea typeface="Space Grotesk" pitchFamily="34" charset="-122"/>
                <a:cs typeface="Space Grotesk" pitchFamily="34" charset="-120"/>
              </a:rPr>
              <a:t>View → Output → Dev Containers shows the clone and the script’s output.</a:t>
            </a:r>
            <a:endParaRPr lang="en-US" sz="1400" dirty="0"/>
          </a:p>
        </p:txBody>
      </p:sp>
      <p:sp>
        <p:nvSpPr>
          <p:cNvPr id="29"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30"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A33D"/>
        </a:solidFill>
      </p:bgPr>
    </p:bg>
    <p:spTree>
      <p:nvGrpSpPr>
        <p:cNvPr id="1" name=""/>
        <p:cNvGrpSpPr/>
        <p:nvPr/>
      </p:nvGrpSpPr>
      <p:grpSpPr>
        <a:xfrm>
          <a:off x="0" y="0"/>
          <a:ext cx="0" cy="0"/>
          <a:chOff x="0" y="0"/>
          <a:chExt cx="0" cy="0"/>
        </a:xfrm>
      </p:grpSpPr>
      <p:sp>
        <p:nvSpPr>
          <p:cNvPr id="2" name="Text 0"/>
          <p:cNvSpPr/>
          <p:nvPr/>
        </p:nvSpPr>
        <p:spPr>
          <a:xfrm>
            <a:off x="812800" y="1866968"/>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14181F"/>
                </a:solidFill>
                <a:latin typeface="JetBrains Mono" pitchFamily="49" charset="0"/>
                <a:ea typeface="JetBrains Mono" pitchFamily="49" charset="-122"/>
                <a:cs typeface="JetBrains Mono" pitchFamily="49" charset="-120"/>
              </a:rPr>
              <a:t>LIVE DEMO</a:t>
            </a:r>
            <a:endParaRPr lang="en-US" sz="1600" dirty="0"/>
          </a:p>
        </p:txBody>
      </p:sp>
      <p:sp>
        <p:nvSpPr>
          <p:cNvPr id="3" name="Text 1"/>
          <p:cNvSpPr/>
          <p:nvPr>
            <p:ph type="title"/>
          </p:nvPr>
        </p:nvSpPr>
        <p:spPr>
          <a:xfrm>
            <a:off x="812800" y="2405397"/>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14181F"/>
                </a:solidFill>
                <a:latin typeface="Space Grotesk" pitchFamily="34" charset="0"/>
                <a:ea typeface="Space Grotesk" pitchFamily="34" charset="-122"/>
                <a:cs typeface="Space Grotesk" pitchFamily="34" charset="-120"/>
              </a:rPr>
              <a:t>Same container, before and after</a:t>
            </a:r>
            <a:endParaRPr lang="en-US" sz="6000" dirty="0"/>
          </a:p>
        </p:txBody>
      </p:sp>
      <p:sp>
        <p:nvSpPr>
          <p:cNvPr id="4" name="Text 2"/>
          <p:cNvSpPr/>
          <p:nvPr/>
        </p:nvSpPr>
        <p:spPr>
          <a:xfrm>
            <a:off x="812800" y="4259597"/>
            <a:ext cx="10883392" cy="756841"/>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14181F"/>
                </a:solidFill>
                <a:latin typeface="JetBrains Mono" pitchFamily="49" charset="0"/>
                <a:ea typeface="JetBrains Mono" pitchFamily="49" charset="-122"/>
                <a:cs typeface="JetBrains Mono" pitchFamily="49" charset="-120"/>
              </a:rPr>
              <a:t>ll · gs · git lg · dotfiles status</a:t>
            </a:r>
            <a:endParaRPr lang="en-US" sz="1800" dirty="0"/>
          </a:p>
          <a:p>
            <a:pPr algn="l" indent="0" marL="0">
              <a:lnSpc>
                <a:spcPts val="2880"/>
              </a:lnSpc>
              <a:buNone/>
            </a:pPr>
            <a:r>
              <a:rPr lang="en-US" sz="1800" dirty="0">
                <a:solidFill>
                  <a:srgbClr val="14181F"/>
                </a:solidFill>
                <a:latin typeface="JetBrains Mono" pitchFamily="49" charset="0"/>
                <a:ea typeface="JetBrains Mono" pitchFamily="49" charset="-122"/>
                <a:cs typeface="JetBrains Mono" pitchFamily="49" charset="-120"/>
              </a:rPr>
              <a:t>Rebuild Container → ll · gs · git lg · dotfiles status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BEYOND CONTAINERS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Same repo, every machine</a:t>
            </a:r>
            <a:endParaRPr lang="en-US" sz="3600" dirty="0"/>
          </a:p>
        </p:txBody>
      </p:sp>
      <p:sp>
        <p:nvSpPr>
          <p:cNvPr id="4" name="Shape 2"/>
          <p:cNvSpPr/>
          <p:nvPr/>
        </p:nvSpPr>
        <p:spPr>
          <a:xfrm>
            <a:off x="819150" y="1941779"/>
            <a:ext cx="5181600" cy="1562034"/>
          </a:xfrm>
          <a:prstGeom prst="roundRect">
            <a:avLst>
              <a:gd name="adj" fmla="val 7724"/>
            </a:avLst>
          </a:prstGeom>
          <a:solidFill>
            <a:srgbClr val="FFFDF8"/>
          </a:solidFill>
          <a:ln w="12700">
            <a:solidFill>
              <a:srgbClr val="E2DCCF"/>
            </a:solidFill>
            <a:prstDash val="solid"/>
          </a:ln>
        </p:spPr>
      </p:sp>
      <p:sp>
        <p:nvSpPr>
          <p:cNvPr id="5" name="Text 3"/>
          <p:cNvSpPr/>
          <p:nvPr/>
        </p:nvSpPr>
        <p:spPr>
          <a:xfrm>
            <a:off x="1054100" y="2151329"/>
            <a:ext cx="48530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Linux, macOS, WSL</a:t>
            </a:r>
            <a:endParaRPr lang="en-US" sz="1800" dirty="0"/>
          </a:p>
        </p:txBody>
      </p:sp>
      <p:sp>
        <p:nvSpPr>
          <p:cNvPr id="6" name="Text 4"/>
          <p:cNvSpPr/>
          <p:nvPr/>
        </p:nvSpPr>
        <p:spPr>
          <a:xfrm>
            <a:off x="1054100" y="2514538"/>
            <a:ext cx="485305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181F"/>
                </a:solidFill>
                <a:latin typeface="JetBrains Mono" pitchFamily="49" charset="0"/>
                <a:ea typeface="JetBrains Mono" pitchFamily="49" charset="-122"/>
                <a:cs typeface="JetBrains Mono" pitchFamily="49" charset="-120"/>
              </a:rPr>
              <a:t>git clone …/dotfiles-demo ~/dotfiles</a:t>
            </a:r>
            <a:endParaRPr lang="en-US" sz="1200" dirty="0"/>
          </a:p>
          <a:p>
            <a:pPr algn="l" indent="0" marL="0">
              <a:lnSpc>
                <a:spcPts val="1800"/>
              </a:lnSpc>
              <a:buNone/>
            </a:pPr>
            <a:r>
              <a:rPr lang="en-US" sz="1200" dirty="0">
                <a:solidFill>
                  <a:srgbClr val="14181F"/>
                </a:solidFill>
                <a:latin typeface="JetBrains Mono" pitchFamily="49" charset="0"/>
                <a:ea typeface="JetBrains Mono" pitchFamily="49" charset="-122"/>
                <a:cs typeface="JetBrains Mono" pitchFamily="49" charset="-120"/>
              </a:rPr>
              <a:t>~/dotfiles/install.sh</a:t>
            </a:r>
            <a:endParaRPr lang="en-US" sz="1200" dirty="0"/>
          </a:p>
        </p:txBody>
      </p:sp>
      <p:sp>
        <p:nvSpPr>
          <p:cNvPr id="7" name="Shape 5"/>
          <p:cNvSpPr/>
          <p:nvPr/>
        </p:nvSpPr>
        <p:spPr>
          <a:xfrm>
            <a:off x="6191250" y="1941779"/>
            <a:ext cx="5181600" cy="1562034"/>
          </a:xfrm>
          <a:prstGeom prst="roundRect">
            <a:avLst>
              <a:gd name="adj" fmla="val 7724"/>
            </a:avLst>
          </a:prstGeom>
          <a:solidFill>
            <a:srgbClr val="FFFDF8"/>
          </a:solidFill>
          <a:ln w="12700">
            <a:solidFill>
              <a:srgbClr val="E2DCCF"/>
            </a:solidFill>
            <a:prstDash val="solid"/>
          </a:ln>
        </p:spPr>
      </p:sp>
      <p:sp>
        <p:nvSpPr>
          <p:cNvPr id="8" name="Text 6"/>
          <p:cNvSpPr/>
          <p:nvPr/>
        </p:nvSpPr>
        <p:spPr>
          <a:xfrm>
            <a:off x="6426200" y="2151329"/>
            <a:ext cx="48530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Windows</a:t>
            </a:r>
            <a:endParaRPr lang="en-US" sz="1800" dirty="0"/>
          </a:p>
        </p:txBody>
      </p:sp>
      <p:sp>
        <p:nvSpPr>
          <p:cNvPr id="9" name="Text 7"/>
          <p:cNvSpPr/>
          <p:nvPr/>
        </p:nvSpPr>
        <p:spPr>
          <a:xfrm>
            <a:off x="6426200" y="2514538"/>
            <a:ext cx="4853051"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181F"/>
                </a:solidFill>
                <a:latin typeface="JetBrains Mono" pitchFamily="49" charset="0"/>
                <a:ea typeface="JetBrains Mono" pitchFamily="49" charset="-122"/>
                <a:cs typeface="JetBrains Mono" pitchFamily="49" charset="-120"/>
              </a:rPr>
              <a:t>&amp; ~\dotfiles\install.ps1</a:t>
            </a:r>
            <a:endParaRPr lang="en-US" sz="1200" dirty="0"/>
          </a:p>
        </p:txBody>
      </p:sp>
      <p:sp>
        <p:nvSpPr>
          <p:cNvPr id="10" name="Text 8"/>
          <p:cNvSpPr/>
          <p:nvPr/>
        </p:nvSpPr>
        <p:spPr>
          <a:xfrm>
            <a:off x="6426200" y="2832038"/>
            <a:ext cx="485305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Space Grotesk" pitchFamily="34" charset="0"/>
                <a:ea typeface="Space Grotesk" pitchFamily="34" charset="-122"/>
                <a:cs typeface="Space Grotesk" pitchFamily="34" charset="-120"/>
              </a:rPr>
              <a:t>PowerShell profile and git config. Turn on Developer Mode for symlinks.</a:t>
            </a:r>
            <a:endParaRPr lang="en-US" sz="1300" dirty="0"/>
          </a:p>
        </p:txBody>
      </p:sp>
      <p:sp>
        <p:nvSpPr>
          <p:cNvPr id="11" name="Shape 9"/>
          <p:cNvSpPr/>
          <p:nvPr/>
        </p:nvSpPr>
        <p:spPr>
          <a:xfrm>
            <a:off x="819150" y="3694311"/>
            <a:ext cx="5181600" cy="1244534"/>
          </a:xfrm>
          <a:prstGeom prst="roundRect">
            <a:avLst>
              <a:gd name="adj" fmla="val 9694"/>
            </a:avLst>
          </a:prstGeom>
          <a:solidFill>
            <a:srgbClr val="FFFDF8"/>
          </a:solidFill>
          <a:ln w="12700">
            <a:solidFill>
              <a:srgbClr val="E2DCCF"/>
            </a:solidFill>
            <a:prstDash val="solid"/>
          </a:ln>
        </p:spPr>
      </p:sp>
      <p:sp>
        <p:nvSpPr>
          <p:cNvPr id="12" name="Text 10"/>
          <p:cNvSpPr/>
          <p:nvPr/>
        </p:nvSpPr>
        <p:spPr>
          <a:xfrm>
            <a:off x="1054100" y="3903861"/>
            <a:ext cx="48530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GitHub Codespaces</a:t>
            </a:r>
            <a:endParaRPr lang="en-US" sz="1800" dirty="0"/>
          </a:p>
        </p:txBody>
      </p:sp>
      <p:sp>
        <p:nvSpPr>
          <p:cNvPr id="13" name="Text 11"/>
          <p:cNvSpPr/>
          <p:nvPr/>
        </p:nvSpPr>
        <p:spPr>
          <a:xfrm>
            <a:off x="1054100" y="4267070"/>
            <a:ext cx="485305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Space Grotesk" pitchFamily="34" charset="0"/>
                <a:ea typeface="Space Grotesk" pitchFamily="34" charset="-122"/>
                <a:cs typeface="Space Grotesk" pitchFamily="34" charset="-120"/>
              </a:rPr>
              <a:t>Settings → Codespaces → Automatically install dotfiles. Repo must be on GitHub.</a:t>
            </a:r>
            <a:endParaRPr lang="en-US" sz="1300" dirty="0"/>
          </a:p>
        </p:txBody>
      </p:sp>
      <p:sp>
        <p:nvSpPr>
          <p:cNvPr id="14" name="Shape 12"/>
          <p:cNvSpPr/>
          <p:nvPr/>
        </p:nvSpPr>
        <p:spPr>
          <a:xfrm>
            <a:off x="6191250" y="3694311"/>
            <a:ext cx="5181600" cy="1244534"/>
          </a:xfrm>
          <a:prstGeom prst="roundRect">
            <a:avLst>
              <a:gd name="adj" fmla="val 9694"/>
            </a:avLst>
          </a:prstGeom>
          <a:solidFill>
            <a:srgbClr val="FFFDF8"/>
          </a:solidFill>
          <a:ln w="12700">
            <a:solidFill>
              <a:srgbClr val="E2DCCF"/>
            </a:solidFill>
            <a:prstDash val="solid"/>
          </a:ln>
        </p:spPr>
      </p:sp>
      <p:sp>
        <p:nvSpPr>
          <p:cNvPr id="15" name="Text 13"/>
          <p:cNvSpPr/>
          <p:nvPr/>
        </p:nvSpPr>
        <p:spPr>
          <a:xfrm>
            <a:off x="6426200" y="3903861"/>
            <a:ext cx="485305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81F"/>
                </a:solidFill>
                <a:latin typeface="Space Grotesk" pitchFamily="34" charset="0"/>
                <a:ea typeface="Space Grotesk" pitchFamily="34" charset="-122"/>
                <a:cs typeface="Space Grotesk" pitchFamily="34" charset="-120"/>
              </a:rPr>
              <a:t>Dev Container CLI</a:t>
            </a:r>
            <a:endParaRPr lang="en-US" sz="1800" dirty="0"/>
          </a:p>
        </p:txBody>
      </p:sp>
      <p:sp>
        <p:nvSpPr>
          <p:cNvPr id="16" name="Text 14"/>
          <p:cNvSpPr/>
          <p:nvPr/>
        </p:nvSpPr>
        <p:spPr>
          <a:xfrm>
            <a:off x="6426200" y="4267070"/>
            <a:ext cx="485305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181F"/>
                </a:solidFill>
                <a:latin typeface="JetBrains Mono" pitchFamily="49" charset="0"/>
                <a:ea typeface="JetBrains Mono" pitchFamily="49" charset="-122"/>
                <a:cs typeface="JetBrains Mono" pitchFamily="49" charset="-120"/>
              </a:rPr>
              <a:t>devcontainer up \</a:t>
            </a:r>
            <a:endParaRPr lang="en-US" sz="1200" dirty="0"/>
          </a:p>
          <a:p>
            <a:pPr algn="l" indent="0" marL="0">
              <a:lnSpc>
                <a:spcPts val="1800"/>
              </a:lnSpc>
              <a:buNone/>
            </a:pPr>
            <a:r>
              <a:rPr lang="en-US" sz="1200" dirty="0">
                <a:solidFill>
                  <a:srgbClr val="14181F"/>
                </a:solidFill>
                <a:latin typeface="JetBrains Mono" pitchFamily="49" charset="0"/>
                <a:ea typeface="JetBrains Mono" pitchFamily="49" charset="-122"/>
                <a:cs typeface="JetBrains Mono" pitchFamily="49" charset="-120"/>
              </a:rPr>
              <a:t>  --dotfiles-repository …</a:t>
            </a:r>
            <a:endParaRPr lang="en-US" sz="1200" dirty="0"/>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1013489"/>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E8A33D"/>
                </a:solidFill>
                <a:latin typeface="JetBrains Mono" pitchFamily="49" charset="0"/>
                <a:ea typeface="JetBrains Mono" pitchFamily="49" charset="-122"/>
                <a:cs typeface="JetBrains Mono" pitchFamily="49" charset="-120"/>
              </a:rPr>
              <a:t>LIVE DEMO</a:t>
            </a:r>
            <a:endParaRPr lang="en-US" sz="1600" dirty="0"/>
          </a:p>
        </p:txBody>
      </p:sp>
      <p:sp>
        <p:nvSpPr>
          <p:cNvPr id="3" name="Text 1"/>
          <p:cNvSpPr/>
          <p:nvPr>
            <p:ph type="title"/>
          </p:nvPr>
        </p:nvSpPr>
        <p:spPr>
          <a:xfrm>
            <a:off x="812800" y="1602718"/>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4F1EA"/>
                </a:solidFill>
                <a:latin typeface="Space Grotesk" pitchFamily="34" charset="0"/>
                <a:ea typeface="Space Grotesk" pitchFamily="34" charset="-122"/>
                <a:cs typeface="Space Grotesk" pitchFamily="34" charset="-120"/>
              </a:rPr>
              <a:t>Change it once, get it everywhere</a:t>
            </a:r>
            <a:endParaRPr lang="en-US" sz="6000" dirty="0"/>
          </a:p>
        </p:txBody>
      </p:sp>
      <p:sp>
        <p:nvSpPr>
          <p:cNvPr id="4" name="Text 2"/>
          <p:cNvSpPr/>
          <p:nvPr/>
        </p:nvSpPr>
        <p:spPr>
          <a:xfrm>
            <a:off x="812800" y="3507718"/>
            <a:ext cx="8255000" cy="2336800"/>
          </a:xfrm>
          <a:prstGeom prst="roundRect">
            <a:avLst>
              <a:gd name="adj" fmla="val 5435"/>
            </a:avLst>
          </a:prstGeom>
          <a:solidFill>
            <a:srgbClr val="232934"/>
          </a:solidFill>
          <a:ln/>
        </p:spPr>
        <p:txBody>
          <a:bodyPr wrap="square" lIns="216803" tIns="216803" rIns="0" bIns="191403" rtlCol="0" anchor="t">
            <a:normAutofit/>
          </a:bodyPr>
          <a:lstStyle/>
          <a:p>
            <a:pPr algn="l" indent="0" marL="0">
              <a:lnSpc>
                <a:spcPts val="2400"/>
              </a:lnSpc>
              <a:buNone/>
            </a:pPr>
            <a:r>
              <a:rPr lang="en-US" sz="1500" dirty="0">
                <a:solidFill>
                  <a:srgbClr val="8B929C"/>
                </a:solidFill>
                <a:latin typeface="JetBrains Mono" pitchFamily="49" charset="0"/>
                <a:ea typeface="JetBrains Mono" pitchFamily="49" charset="-122"/>
                <a:cs typeface="JetBrains Mono" pitchFamily="49" charset="-120"/>
              </a:rPr>
              <a:t># machine A</a:t>
            </a:r>
            <a:endParaRPr lang="en-US" sz="1500" dirty="0"/>
          </a:p>
          <a:p>
            <a:pPr algn="l" indent="0" marL="0">
              <a:lnSpc>
                <a:spcPts val="2400"/>
              </a:lnSpc>
              <a:buNone/>
            </a:pPr>
            <a:r>
              <a:rPr lang="en-US" sz="1500" dirty="0">
                <a:solidFill>
                  <a:srgbClr val="F4F1EA"/>
                </a:solidFill>
                <a:latin typeface="JetBrains Mono" pitchFamily="49" charset="0"/>
                <a:ea typeface="JetBrains Mono" pitchFamily="49" charset="-122"/>
                <a:cs typeface="JetBrains Mono" pitchFamily="49" charset="-120"/>
              </a:rPr>
              <a:t>echo "alias weather='curl -s wttr.in/?format=3'" &gt;&gt; shell/aliases.sh</a:t>
            </a:r>
            <a:endParaRPr lang="en-US" sz="1500" dirty="0"/>
          </a:p>
          <a:p>
            <a:pPr algn="l" indent="0" marL="0">
              <a:lnSpc>
                <a:spcPts val="2400"/>
              </a:lnSpc>
              <a:buNone/>
            </a:pPr>
            <a:r>
              <a:rPr lang="en-US" sz="1500" dirty="0">
                <a:solidFill>
                  <a:srgbClr val="F4F1EA"/>
                </a:solidFill>
                <a:latin typeface="JetBrains Mono" pitchFamily="49" charset="0"/>
                <a:ea typeface="JetBrains Mono" pitchFamily="49" charset="-122"/>
                <a:cs typeface="JetBrains Mono" pitchFamily="49" charset="-120"/>
              </a:rPr>
              <a:t>git commit -am "Add weather alias" &amp;&amp; git push</a:t>
            </a:r>
            <a:endParaRPr lang="en-US" sz="1500" dirty="0"/>
          </a:p>
          <a:p>
            <a:pPr algn="l" indent="0" marL="0">
              <a:lnSpc>
                <a:spcPts val="2400"/>
              </a:lnSpc>
              <a:buNone/>
            </a:pPr>
            <a:r>
              <a:rPr lang="en-US" sz="1500" dirty="0">
                <a:solidFill>
                  <a:srgbClr val="8B929C"/>
                </a:solidFill>
                <a:latin typeface="JetBrains Mono" pitchFamily="49" charset="0"/>
                <a:ea typeface="JetBrains Mono" pitchFamily="49" charset="-122"/>
                <a:cs typeface="JetBrains Mono" pitchFamily="49" charset="-120"/>
              </a:rPr>
              <a:t># machine B</a:t>
            </a:r>
            <a:endParaRPr lang="en-US" sz="1500" dirty="0"/>
          </a:p>
          <a:p>
            <a:pPr algn="l" indent="0" marL="0">
              <a:lnSpc>
                <a:spcPts val="2400"/>
              </a:lnSpc>
              <a:buNone/>
            </a:pPr>
            <a:r>
              <a:rPr lang="en-US" sz="1500" dirty="0">
                <a:solidFill>
                  <a:srgbClr val="F4F1EA"/>
                </a:solidFill>
                <a:latin typeface="JetBrains Mono" pitchFamily="49" charset="0"/>
                <a:ea typeface="JetBrains Mono" pitchFamily="49" charset="-122"/>
                <a:cs typeface="JetBrains Mono" pitchFamily="49" charset="-120"/>
              </a:rPr>
              <a:t>dotfiles update &amp;&amp; exec bash &amp;&amp; weather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GOTCHAS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Things that will bite you once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3431448"/>
        </p:xfrm>
        <a:graphic>
          <a:graphicData uri="http://schemas.openxmlformats.org/drawingml/2006/table">
            <a:tbl>
              <a:tblPr/>
              <a:tblGrid>
                <a:gridCol w="4854702"/>
                <a:gridCol w="5698998"/>
              </a:tblGrid>
              <a:tr h="490207">
                <a:tc>
                  <a:txBody>
                    <a:bodyPr/>
                    <a:lstStyle/>
                    <a:p>
                      <a:pPr indent="0" marL="0">
                        <a:lnSpc>
                          <a:spcPts val="1960"/>
                        </a:lnSpc>
                        <a:buNone/>
                      </a:pPr>
                      <a:r>
                        <a:rPr lang="en-US" sz="1400" b="1" dirty="0">
                          <a:solidFill>
                            <a:srgbClr val="14181F"/>
                          </a:solidFill>
                          <a:latin typeface="Space Grotesk" pitchFamily="34" charset="0"/>
                          <a:ea typeface="Space Grotesk" pitchFamily="34" charset="-122"/>
                          <a:cs typeface="Space Grotesk" pitchFamily="34" charset="-120"/>
                        </a:rPr>
                        <a:t>You see</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960"/>
                        </a:lnSpc>
                        <a:buNone/>
                      </a:pPr>
                      <a:r>
                        <a:rPr lang="en-US" sz="1400" b="1" dirty="0">
                          <a:solidFill>
                            <a:srgbClr val="14181F"/>
                          </a:solidFill>
                          <a:latin typeface="Space Grotesk" pitchFamily="34" charset="0"/>
                          <a:ea typeface="Space Grotesk" pitchFamily="34" charset="-122"/>
                          <a:cs typeface="Space Grotesk" pitchFamily="34" charset="-120"/>
                        </a:rPr>
                        <a:t>Fix</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90207">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bad interpreter: /bin/bash^M</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 text=auto eol=lf in .gitattributes</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90207">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install.sh: Permission denied</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git update-index --chmod=+x (from Windows)</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r>
              <a:tr h="490207">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Git name and email gone</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Include .gitconfig, don’t overwrite it</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90207">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My change didn’t show up</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It runs on create: rebuild, or dotfiles update</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r>
              <a:tr h="490207">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Containers start slowly</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Keep install.sh fast; heavy tools go in the image</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CB8AE"/>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90207">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Codespaces ignores my repo</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C3C0BB"/>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c>
                  <a:txBody>
                    <a:bodyPr/>
                    <a:lstStyle/>
                    <a:p>
                      <a:pPr indent="0" marL="0">
                        <a:lnSpc>
                          <a:spcPts val="1960"/>
                        </a:lnSpc>
                        <a:buNone/>
                      </a:pPr>
                      <a:r>
                        <a:rPr lang="en-US" sz="1400" dirty="0">
                          <a:solidFill>
                            <a:srgbClr val="14181F"/>
                          </a:solidFill>
                          <a:latin typeface="Space Grotesk" pitchFamily="34" charset="0"/>
                          <a:ea typeface="Space Grotesk" pitchFamily="34" charset="-122"/>
                          <a:cs typeface="Space Grotesk" pitchFamily="34" charset="-120"/>
                        </a:rPr>
                        <a:t>It only reads dotfiles hosted on GitHub</a:t>
                      </a:r>
                      <a:endParaRPr lang="en-US" sz="1400" dirty="0">
                        <a:latin typeface="Space Grotesk" charset="0"/>
                        <a:ea typeface="Space Grotesk" charset="0"/>
                        <a:cs typeface="Space Grotesk" charset="0"/>
                      </a:endParaRPr>
                    </a:p>
                  </a:txBody>
                  <a:tcPr marL="152400" marR="152400" marT="114300" marB="114300" anchor="t">
                    <a:lnL w="12700" cap="flat" cmpd="sng" algn="ctr">
                      <a:solidFill>
                        <a:srgbClr val="BCB8AE"/>
                      </a:solidFill>
                      <a:prstDash val="solid"/>
                      <a:round/>
                      <a:headEnd type="none" w="med" len="med"/>
                      <a:tailEnd type="none" w="med" len="med"/>
                    </a:lnL>
                    <a:lnR w="12700" cap="flat" cmpd="sng" algn="ctr">
                      <a:solidFill>
                        <a:srgbClr val="BCB8AE"/>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CB8AE"/>
                      </a:solidFill>
                      <a:prstDash val="solid"/>
                      <a:round/>
                      <a:headEnd type="none" w="med" len="med"/>
                      <a:tailEnd type="none" w="med" len="med"/>
                    </a:lnB>
                    <a:solidFill>
                      <a:srgbClr val="EBE6DA"/>
                    </a:solidFill>
                  </a:tcPr>
                </a:tc>
              </a:tr>
            </a:tbl>
          </a:graphicData>
        </a:graphic>
      </p:graphicFrame>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F540A"/>
                </a:solidFill>
                <a:latin typeface="Space Grotesk" pitchFamily="34" charset="0"/>
                <a:ea typeface="Space Grotesk" pitchFamily="34" charset="-122"/>
                <a:cs typeface="Space Grotesk" pitchFamily="34" charset="-120"/>
              </a:rPr>
              <a:t>START SMALL</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4181F"/>
                </a:solidFill>
                <a:latin typeface="Space Grotesk" pitchFamily="34" charset="0"/>
                <a:ea typeface="Space Grotesk" pitchFamily="34" charset="-122"/>
                <a:cs typeface="Space Grotesk" pitchFamily="34" charset="-120"/>
              </a:rPr>
              <a:t>Your first dotfiles repo, this week</a:t>
            </a:r>
            <a:endParaRPr lang="en-US" sz="3600" dirty="0"/>
          </a:p>
        </p:txBody>
      </p:sp>
      <p:sp>
        <p:nvSpPr>
          <p:cNvPr id="4" name="Shape 2"/>
          <p:cNvSpPr/>
          <p:nvPr/>
        </p:nvSpPr>
        <p:spPr>
          <a:xfrm>
            <a:off x="819150" y="1992585"/>
            <a:ext cx="2514600" cy="1836341"/>
          </a:xfrm>
          <a:prstGeom prst="roundRect">
            <a:avLst>
              <a:gd name="adj" fmla="val 6570"/>
            </a:avLst>
          </a:prstGeom>
          <a:solidFill>
            <a:srgbClr val="FFFDF8"/>
          </a:solidFill>
          <a:ln w="12700">
            <a:solidFill>
              <a:srgbClr val="E2DCCF"/>
            </a:solidFill>
            <a:prstDash val="solid"/>
          </a:ln>
        </p:spPr>
      </p:sp>
      <p:sp>
        <p:nvSpPr>
          <p:cNvPr id="5" name="Text 3"/>
          <p:cNvSpPr/>
          <p:nvPr/>
        </p:nvSpPr>
        <p:spPr>
          <a:xfrm>
            <a:off x="1054100" y="2227535"/>
            <a:ext cx="210604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8F540A"/>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054100" y="2786335"/>
            <a:ext cx="210604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Make the repo</a:t>
            </a:r>
            <a:endParaRPr lang="en-US" sz="1600" dirty="0"/>
          </a:p>
        </p:txBody>
      </p:sp>
      <p:sp>
        <p:nvSpPr>
          <p:cNvPr id="7" name="Text 5"/>
          <p:cNvSpPr/>
          <p:nvPr/>
        </p:nvSpPr>
        <p:spPr>
          <a:xfrm>
            <a:off x="1054100" y="3131741"/>
            <a:ext cx="210604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Space Grotesk" pitchFamily="34" charset="0"/>
                <a:ea typeface="Space Grotesk" pitchFamily="34" charset="-122"/>
                <a:cs typeface="Space Grotesk" pitchFamily="34" charset="-120"/>
              </a:rPr>
              <a:t>Or fork the demo.</a:t>
            </a:r>
            <a:endParaRPr lang="en-US" sz="1300" dirty="0"/>
          </a:p>
        </p:txBody>
      </p:sp>
      <p:sp>
        <p:nvSpPr>
          <p:cNvPr id="8" name="Shape 6"/>
          <p:cNvSpPr/>
          <p:nvPr/>
        </p:nvSpPr>
        <p:spPr>
          <a:xfrm>
            <a:off x="3498850" y="1992585"/>
            <a:ext cx="2514600" cy="1836341"/>
          </a:xfrm>
          <a:prstGeom prst="roundRect">
            <a:avLst>
              <a:gd name="adj" fmla="val 6570"/>
            </a:avLst>
          </a:prstGeom>
          <a:solidFill>
            <a:srgbClr val="FFFDF8"/>
          </a:solidFill>
          <a:ln w="12700">
            <a:solidFill>
              <a:srgbClr val="E2DCCF"/>
            </a:solidFill>
            <a:prstDash val="solid"/>
          </a:ln>
        </p:spPr>
      </p:sp>
      <p:sp>
        <p:nvSpPr>
          <p:cNvPr id="9" name="Text 7"/>
          <p:cNvSpPr/>
          <p:nvPr/>
        </p:nvSpPr>
        <p:spPr>
          <a:xfrm>
            <a:off x="3733800" y="2227535"/>
            <a:ext cx="210604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8F540A"/>
                </a:solidFill>
                <a:latin typeface="Space Grotesk" pitchFamily="34" charset="0"/>
                <a:ea typeface="Space Grotesk" pitchFamily="34" charset="-122"/>
                <a:cs typeface="Space Grotesk" pitchFamily="34" charset="-120"/>
              </a:rPr>
              <a:t>2</a:t>
            </a:r>
            <a:endParaRPr lang="en-US" sz="3600" dirty="0"/>
          </a:p>
        </p:txBody>
      </p:sp>
      <p:sp>
        <p:nvSpPr>
          <p:cNvPr id="10" name="Text 8"/>
          <p:cNvSpPr/>
          <p:nvPr/>
        </p:nvSpPr>
        <p:spPr>
          <a:xfrm>
            <a:off x="3733800" y="2786335"/>
            <a:ext cx="210604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Move one file in</a:t>
            </a:r>
            <a:endParaRPr lang="en-US" sz="1600" dirty="0"/>
          </a:p>
        </p:txBody>
      </p:sp>
      <p:sp>
        <p:nvSpPr>
          <p:cNvPr id="11" name="Text 9"/>
          <p:cNvSpPr/>
          <p:nvPr/>
        </p:nvSpPr>
        <p:spPr>
          <a:xfrm>
            <a:off x="3733800" y="3131741"/>
            <a:ext cx="210604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Space Grotesk" pitchFamily="34" charset="0"/>
                <a:ea typeface="Space Grotesk" pitchFamily="34" charset="-122"/>
                <a:cs typeface="Space Grotesk" pitchFamily="34" charset="-120"/>
              </a:rPr>
              <a:t>Your aliases are a good start.</a:t>
            </a:r>
            <a:endParaRPr lang="en-US" sz="1300" dirty="0"/>
          </a:p>
        </p:txBody>
      </p:sp>
      <p:sp>
        <p:nvSpPr>
          <p:cNvPr id="12" name="Shape 10"/>
          <p:cNvSpPr/>
          <p:nvPr/>
        </p:nvSpPr>
        <p:spPr>
          <a:xfrm>
            <a:off x="6178550" y="1992585"/>
            <a:ext cx="2514600" cy="1836341"/>
          </a:xfrm>
          <a:prstGeom prst="roundRect">
            <a:avLst>
              <a:gd name="adj" fmla="val 6570"/>
            </a:avLst>
          </a:prstGeom>
          <a:solidFill>
            <a:srgbClr val="FFFDF8"/>
          </a:solidFill>
          <a:ln w="12700">
            <a:solidFill>
              <a:srgbClr val="E2DCCF"/>
            </a:solidFill>
            <a:prstDash val="solid"/>
          </a:ln>
        </p:spPr>
      </p:sp>
      <p:sp>
        <p:nvSpPr>
          <p:cNvPr id="13" name="Text 11"/>
          <p:cNvSpPr/>
          <p:nvPr/>
        </p:nvSpPr>
        <p:spPr>
          <a:xfrm>
            <a:off x="6413500" y="2227535"/>
            <a:ext cx="210604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8F540A"/>
                </a:solidFill>
                <a:latin typeface="Space Grotesk" pitchFamily="34" charset="0"/>
                <a:ea typeface="Space Grotesk" pitchFamily="34" charset="-122"/>
                <a:cs typeface="Space Grotesk" pitchFamily="34" charset="-120"/>
              </a:rPr>
              <a:t>3</a:t>
            </a:r>
            <a:endParaRPr lang="en-US" sz="3600" dirty="0"/>
          </a:p>
        </p:txBody>
      </p:sp>
      <p:sp>
        <p:nvSpPr>
          <p:cNvPr id="14" name="Text 12"/>
          <p:cNvSpPr/>
          <p:nvPr/>
        </p:nvSpPr>
        <p:spPr>
          <a:xfrm>
            <a:off x="6413500" y="2786335"/>
            <a:ext cx="210604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Write install.sh</a:t>
            </a:r>
            <a:endParaRPr lang="en-US" sz="1600" dirty="0"/>
          </a:p>
        </p:txBody>
      </p:sp>
      <p:sp>
        <p:nvSpPr>
          <p:cNvPr id="15" name="Text 13"/>
          <p:cNvSpPr/>
          <p:nvPr/>
        </p:nvSpPr>
        <p:spPr>
          <a:xfrm>
            <a:off x="6413500" y="3131741"/>
            <a:ext cx="210604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Space Grotesk" pitchFamily="34" charset="0"/>
                <a:ea typeface="Space Grotesk" pitchFamily="34" charset="-122"/>
                <a:cs typeface="Space Grotesk" pitchFamily="34" charset="-120"/>
              </a:rPr>
              <a:t>Link and hook: about 20 lines.</a:t>
            </a:r>
            <a:endParaRPr lang="en-US" sz="1300" dirty="0"/>
          </a:p>
        </p:txBody>
      </p:sp>
      <p:sp>
        <p:nvSpPr>
          <p:cNvPr id="16" name="Shape 14"/>
          <p:cNvSpPr/>
          <p:nvPr/>
        </p:nvSpPr>
        <p:spPr>
          <a:xfrm>
            <a:off x="8858250" y="1992585"/>
            <a:ext cx="2514600" cy="1836341"/>
          </a:xfrm>
          <a:prstGeom prst="roundRect">
            <a:avLst>
              <a:gd name="adj" fmla="val 6570"/>
            </a:avLst>
          </a:prstGeom>
          <a:solidFill>
            <a:srgbClr val="FFFDF8"/>
          </a:solidFill>
          <a:ln w="12700">
            <a:solidFill>
              <a:srgbClr val="E2DCCF"/>
            </a:solidFill>
            <a:prstDash val="solid"/>
          </a:ln>
        </p:spPr>
      </p:sp>
      <p:sp>
        <p:nvSpPr>
          <p:cNvPr id="17" name="Text 15"/>
          <p:cNvSpPr/>
          <p:nvPr/>
        </p:nvSpPr>
        <p:spPr>
          <a:xfrm>
            <a:off x="9093200" y="2227535"/>
            <a:ext cx="2106041"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8F540A"/>
                </a:solidFill>
                <a:latin typeface="Space Grotesk" pitchFamily="34" charset="0"/>
                <a:ea typeface="Space Grotesk" pitchFamily="34" charset="-122"/>
                <a:cs typeface="Space Grotesk" pitchFamily="34" charset="-120"/>
              </a:rPr>
              <a:t>4</a:t>
            </a:r>
            <a:endParaRPr lang="en-US" sz="3600" dirty="0"/>
          </a:p>
        </p:txBody>
      </p:sp>
      <p:sp>
        <p:nvSpPr>
          <p:cNvPr id="18" name="Text 16"/>
          <p:cNvSpPr/>
          <p:nvPr/>
        </p:nvSpPr>
        <p:spPr>
          <a:xfrm>
            <a:off x="9093200" y="2786335"/>
            <a:ext cx="210604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81F"/>
                </a:solidFill>
                <a:latin typeface="Space Grotesk" pitchFamily="34" charset="0"/>
                <a:ea typeface="Space Grotesk" pitchFamily="34" charset="-122"/>
                <a:cs typeface="Space Grotesk" pitchFamily="34" charset="-120"/>
              </a:rPr>
              <a:t>Point VS Code at it</a:t>
            </a:r>
            <a:endParaRPr lang="en-US" sz="1600" dirty="0"/>
          </a:p>
        </p:txBody>
      </p:sp>
      <p:sp>
        <p:nvSpPr>
          <p:cNvPr id="19" name="Text 17"/>
          <p:cNvSpPr/>
          <p:nvPr/>
        </p:nvSpPr>
        <p:spPr>
          <a:xfrm>
            <a:off x="9093200" y="3131741"/>
            <a:ext cx="210604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F57"/>
                </a:solidFill>
                <a:latin typeface="Space Grotesk" pitchFamily="34" charset="0"/>
                <a:ea typeface="Space Grotesk" pitchFamily="34" charset="-122"/>
                <a:cs typeface="Space Grotesk" pitchFamily="34" charset="-120"/>
              </a:rPr>
              <a:t>dotfiles.repository</a:t>
            </a:r>
            <a:endParaRPr lang="en-US" sz="1300" dirty="0"/>
          </a:p>
        </p:txBody>
      </p:sp>
      <p:sp>
        <p:nvSpPr>
          <p:cNvPr id="20" name="Text 18"/>
          <p:cNvSpPr/>
          <p:nvPr/>
        </p:nvSpPr>
        <p:spPr>
          <a:xfrm>
            <a:off x="812800" y="4190876"/>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4181F"/>
                </a:solidFill>
                <a:latin typeface="Space Grotesk" pitchFamily="34" charset="0"/>
                <a:ea typeface="Space Grotesk" pitchFamily="34" charset="-122"/>
                <a:cs typeface="Space Grotesk" pitchFamily="34" charset="-120"/>
              </a:rPr>
              <a:t>Then add one thing each time you catch yourself retyping it.</a:t>
            </a:r>
            <a:endParaRPr lang="en-US" sz="2200" dirty="0"/>
          </a:p>
        </p:txBody>
      </p:sp>
      <p:sp>
        <p:nvSpPr>
          <p:cNvPr id="21" name="Text 1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Have Dotfiles, Will Travel</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26A"/>
                </a:solidFill>
                <a:latin typeface="Space Grotesk" pitchFamily="34" charset="0"/>
                <a:ea typeface="Space Grotesk" pitchFamily="34" charset="-122"/>
                <a:cs typeface="Space Grotesk"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81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4F1EA"/>
                </a:solidFill>
                <a:latin typeface="Space Grotesk" pitchFamily="34" charset="0"/>
                <a:ea typeface="Space Grotesk" pitchFamily="34" charset="-122"/>
                <a:cs typeface="Space Grotesk" pitchFamily="34" charset="-120"/>
              </a:rPr>
              <a:t>Thanks!</a:t>
            </a:r>
            <a:endParaRPr lang="en-US" sz="8000" dirty="0"/>
          </a:p>
        </p:txBody>
      </p:sp>
      <p:sp>
        <p:nvSpPr>
          <p:cNvPr id="3" name="Text 1"/>
          <p:cNvSpPr/>
          <p:nvPr/>
        </p:nvSpPr>
        <p:spPr>
          <a:xfrm>
            <a:off x="812800" y="198120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9CDD3"/>
                </a:solidFill>
                <a:latin typeface="Space Grotesk" pitchFamily="34" charset="0"/>
                <a:ea typeface="Space Grotesk" pitchFamily="34" charset="-122"/>
                <a:cs typeface="Space Grotesk" pitchFamily="34" charset="-120"/>
              </a:rPr>
              <a:t>Questions?</a:t>
            </a:r>
            <a:endParaRPr lang="en-US" sz="2200" dirty="0"/>
          </a:p>
        </p:txBody>
      </p:sp>
      <p:sp>
        <p:nvSpPr>
          <p:cNvPr id="4" name="Text 2"/>
          <p:cNvSpPr/>
          <p:nvPr/>
        </p:nvSpPr>
        <p:spPr>
          <a:xfrm>
            <a:off x="812800" y="360435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A33D"/>
                </a:solidFill>
                <a:latin typeface="Space Grotesk" pitchFamily="34" charset="0"/>
                <a:ea typeface="Space Grotesk" pitchFamily="34" charset="-122"/>
                <a:cs typeface="Space Grotesk" pitchFamily="34" charset="-120"/>
              </a:rPr>
              <a:t>FORK THE DEMO</a:t>
            </a:r>
            <a:endParaRPr lang="en-US" sz="1200" dirty="0"/>
          </a:p>
        </p:txBody>
      </p:sp>
      <p:sp>
        <p:nvSpPr>
          <p:cNvPr id="5" name="Text 3"/>
          <p:cNvSpPr/>
          <p:nvPr/>
        </p:nvSpPr>
        <p:spPr>
          <a:xfrm>
            <a:off x="812800" y="3944677"/>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4F1EA"/>
                </a:solidFill>
                <a:latin typeface="JetBrains Mono" pitchFamily="49" charset="0"/>
                <a:ea typeface="JetBrains Mono" pitchFamily="49" charset="-122"/>
                <a:cs typeface="JetBrains Mono" pitchFamily="49" charset="-120"/>
              </a:rPr>
              <a:t>github.com/duanenewman/dotfiles-demo</a:t>
            </a:r>
            <a:endParaRPr lang="en-US" sz="2200" dirty="0"/>
          </a:p>
        </p:txBody>
      </p:sp>
      <p:sp>
        <p:nvSpPr>
          <p:cNvPr id="6" name="Text 4"/>
          <p:cNvSpPr/>
          <p:nvPr/>
        </p:nvSpPr>
        <p:spPr>
          <a:xfrm>
            <a:off x="812800" y="5567759"/>
            <a:ext cx="3767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29C"/>
                </a:solidFill>
                <a:latin typeface="Space Grotesk" pitchFamily="34" charset="0"/>
                <a:ea typeface="Space Grotesk" pitchFamily="34" charset="-122"/>
                <a:cs typeface="Space Grotesk" pitchFamily="34" charset="-120"/>
              </a:rPr>
              <a:t>Dev Containers + dotfiles</a:t>
            </a:r>
            <a:endParaRPr lang="en-US" sz="1200" dirty="0"/>
          </a:p>
        </p:txBody>
      </p:sp>
      <p:sp>
        <p:nvSpPr>
          <p:cNvPr id="7" name="Text 5"/>
          <p:cNvSpPr/>
          <p:nvPr/>
        </p:nvSpPr>
        <p:spPr>
          <a:xfrm>
            <a:off x="812800" y="5831880"/>
            <a:ext cx="4064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DD3"/>
                </a:solidFill>
                <a:latin typeface="JetBrains Mono" pitchFamily="49" charset="0"/>
                <a:ea typeface="JetBrains Mono" pitchFamily="49" charset="-122"/>
                <a:cs typeface="JetBrains Mono" pitchFamily="49" charset="-120"/>
              </a:rPr>
              <a:t>code.visualstudio.com/docs/devcontainers</a:t>
            </a:r>
            <a:endParaRPr lang="en-US" sz="1200" dirty="0"/>
          </a:p>
        </p:txBody>
      </p:sp>
      <p:sp>
        <p:nvSpPr>
          <p:cNvPr id="8" name="Text 6"/>
          <p:cNvSpPr/>
          <p:nvPr/>
        </p:nvSpPr>
        <p:spPr>
          <a:xfrm>
            <a:off x="4876800" y="5567759"/>
            <a:ext cx="21220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29C"/>
                </a:solidFill>
                <a:latin typeface="Space Grotesk" pitchFamily="34" charset="0"/>
                <a:ea typeface="Space Grotesk" pitchFamily="34" charset="-122"/>
                <a:cs typeface="Space Grotesk" pitchFamily="34" charset="-120"/>
              </a:rPr>
              <a:t>Ideas from other people</a:t>
            </a:r>
            <a:endParaRPr lang="en-US" sz="1200" dirty="0"/>
          </a:p>
        </p:txBody>
      </p:sp>
      <p:sp>
        <p:nvSpPr>
          <p:cNvPr id="9" name="Text 7"/>
          <p:cNvSpPr/>
          <p:nvPr/>
        </p:nvSpPr>
        <p:spPr>
          <a:xfrm>
            <a:off x="4876800" y="5831880"/>
            <a:ext cx="18214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DD3"/>
                </a:solidFill>
                <a:latin typeface="JetBrains Mono" pitchFamily="49" charset="0"/>
                <a:ea typeface="JetBrains Mono" pitchFamily="49" charset="-122"/>
                <a:cs typeface="JetBrains Mono" pitchFamily="49" charset="-120"/>
              </a:rPr>
              <a:t>dotfiles.github.io</a:t>
            </a:r>
            <a:endParaRPr lang="en-US" sz="1200" dirty="0"/>
          </a:p>
        </p:txBody>
      </p:sp>
      <p:sp>
        <p:nvSpPr>
          <p:cNvPr id="10" name="Text 8"/>
          <p:cNvSpPr/>
          <p:nvPr/>
        </p:nvSpPr>
        <p:spPr>
          <a:xfrm>
            <a:off x="7051609" y="5567759"/>
            <a:ext cx="1148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29C"/>
                </a:solidFill>
                <a:latin typeface="Space Grotesk" pitchFamily="34" charset="0"/>
                <a:ea typeface="Space Grotesk" pitchFamily="34" charset="-122"/>
                <a:cs typeface="Space Grotesk" pitchFamily="34" charset="-120"/>
              </a:rPr>
              <a:t>Me</a:t>
            </a:r>
            <a:endParaRPr lang="en-US" sz="1200" dirty="0"/>
          </a:p>
        </p:txBody>
      </p:sp>
      <p:sp>
        <p:nvSpPr>
          <p:cNvPr id="11" name="Text 9"/>
          <p:cNvSpPr/>
          <p:nvPr/>
        </p:nvSpPr>
        <p:spPr>
          <a:xfrm>
            <a:off x="7051609" y="5831880"/>
            <a:ext cx="1316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DD3"/>
                </a:solidFill>
                <a:latin typeface="JetBrains Mono" pitchFamily="49" charset="0"/>
                <a:ea typeface="JetBrains Mono" pitchFamily="49" charset="-122"/>
                <a:cs typeface="JetBrains Mono" pitchFamily="49" charset="-120"/>
              </a:rPr>
              <a:t>@duanenewman</a:t>
            </a:r>
            <a:endParaRPr lang="en-US" sz="1200" dirty="0"/>
          </a:p>
        </p:txBody>
      </p:sp>
    </p:spTree>
  </p:cSld>
  <p:clrMapOvr>
    <a:masterClrMapping/>
  </p:clrMapOvr>
</p:sld>
</file>

<file path=ppt/theme/theme1.xml><?xml version="1.0" encoding="utf-8"?>
<a:theme xmlns:a="http://schemas.openxmlformats.org/drawingml/2006/main" name="Have Dotfiles, Will Travel">
  <a:themeElements>
    <a:clrScheme name="Have Dotfiles, Will Travel">
      <a:dk1>
        <a:srgbClr val="14181F"/>
      </a:dk1>
      <a:lt1>
        <a:srgbClr val="F4F1EA"/>
      </a:lt1>
      <a:dk2>
        <a:srgbClr val="4C4E52"/>
      </a:dk2>
      <a:lt2>
        <a:srgbClr val="DEDBD6"/>
      </a:lt2>
      <a:accent1>
        <a:srgbClr val="8F540A"/>
      </a:accent1>
      <a:accent2>
        <a:srgbClr val="E8A33D"/>
      </a:accent2>
      <a:accent3>
        <a:srgbClr val="4A4F57"/>
      </a:accent3>
      <a:accent4>
        <a:srgbClr val="5E626A"/>
      </a:accent4>
      <a:accent5>
        <a:srgbClr val="C9CDD3"/>
      </a:accent5>
      <a:accent6>
        <a:srgbClr val="8B929C"/>
      </a:accent6>
      <a:hlink>
        <a:srgbClr val="0563C1"/>
      </a:hlink>
      <a:folHlink>
        <a:srgbClr val="954F72"/>
      </a:folHlink>
    </a:clrScheme>
    <a:fontScheme name="Have Dotfiles, Will Travel">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Have Dotfiles, Will Travel</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2026-10-27T18:09:51Z</dcterms:created>
  <dcterms:modified xsi:type="dcterms:W3CDTF">2026-10-27T18:09:51Z</dcterms:modified>
</cp:coreProperties>
</file>